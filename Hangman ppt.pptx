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10.svg" ContentType="image/svg+xml"/>
  <Override PartName="/ppt/media/image12.svg" ContentType="image/svg+xml"/>
  <Override PartName="/ppt/media/image18.svg" ContentType="image/svg+xml"/>
  <Override PartName="/ppt/media/image2.svg" ContentType="image/svg+xml"/>
  <Override PartName="/ppt/media/image21.svg" ContentType="image/svg+xml"/>
  <Override PartName="/ppt/media/image23.svg" ContentType="image/svg+xml"/>
  <Override PartName="/ppt/media/image5.svg" ContentType="image/svg+xml"/>
  <Override PartName="/ppt/media/image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8288000" cy="10287000"/>
  <p:notesSz cx="6858000" cy="9144000"/>
  <p:embeddedFontLst>
    <p:embeddedFont>
      <p:font typeface="Lora" panose="00000500000000000000"/>
      <p:regular r:id="rId18"/>
    </p:embeddedFont>
    <p:embeddedFont>
      <p:font typeface="Lora Bold Italics" panose="00000800000000000000"/>
      <p:boldItalic r:id="rId19"/>
    </p:embeddedFont>
    <p:embeddedFont>
      <p:font typeface="Calibri" panose="020F0502020204030204" charset="0"/>
      <p:regular r:id="rId20"/>
      <p:bold r:id="rId21"/>
      <p:italic r:id="rId22"/>
      <p:boldItalic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font" Target="fonts/font6.fntdata"/><Relationship Id="rId22" Type="http://schemas.openxmlformats.org/officeDocument/2006/relationships/font" Target="fonts/font5.fntdata"/><Relationship Id="rId21" Type="http://schemas.openxmlformats.org/officeDocument/2006/relationships/font" Target="fonts/font4.fntdata"/><Relationship Id="rId20" Type="http://schemas.openxmlformats.org/officeDocument/2006/relationships/font" Target="fonts/font3.fntdata"/><Relationship Id="rId2" Type="http://schemas.openxmlformats.org/officeDocument/2006/relationships/theme" Target="theme/theme1.xml"/><Relationship Id="rId19" Type="http://schemas.openxmlformats.org/officeDocument/2006/relationships/font" Target="fonts/font2.fntdata"/><Relationship Id="rId18" Type="http://schemas.openxmlformats.org/officeDocument/2006/relationships/font" Target="fonts/font1.fntdata"/><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3.jpe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18.svg"/><Relationship Id="rId4" Type="http://schemas.openxmlformats.org/officeDocument/2006/relationships/image" Target="../media/image17.png"/><Relationship Id="rId3" Type="http://schemas.openxmlformats.org/officeDocument/2006/relationships/image" Target="../media/image16.jpeg"/><Relationship Id="rId2" Type="http://schemas.openxmlformats.org/officeDocument/2006/relationships/image" Target="../media/image19.jpe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svg"/><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9.png"/><Relationship Id="rId7" Type="http://schemas.openxmlformats.org/officeDocument/2006/relationships/image" Target="../media/image28.png"/><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3.svg"/><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3.svg"/><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5.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6.png"/><Relationship Id="rId2" Type="http://schemas.openxmlformats.org/officeDocument/2006/relationships/image" Target="../media/image23.svg"/><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rot="0">
            <a:off x="-877281" y="0"/>
            <a:ext cx="3088591" cy="10287000"/>
            <a:chOff x="0" y="0"/>
            <a:chExt cx="813456" cy="2709333"/>
          </a:xfrm>
        </p:grpSpPr>
        <p:sp>
          <p:nvSpPr>
            <p:cNvPr id="3" name="Freeform 3"/>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4" name="TextBox 4"/>
            <p:cNvSpPr txBox="1"/>
            <p:nvPr/>
          </p:nvSpPr>
          <p:spPr>
            <a:xfrm>
              <a:off x="0" y="-28575"/>
              <a:ext cx="813456" cy="2737908"/>
            </a:xfrm>
            <a:prstGeom prst="rect">
              <a:avLst/>
            </a:prstGeom>
          </p:spPr>
          <p:txBody>
            <a:bodyPr lIns="50800" tIns="50800" rIns="50800" bIns="50800" rtlCol="0" anchor="ctr"/>
            <a:lstStyle/>
            <a:p>
              <a:pPr algn="ctr">
                <a:lnSpc>
                  <a:spcPts val="2850"/>
                </a:lnSpc>
              </a:pPr>
            </a:p>
          </p:txBody>
        </p:sp>
      </p:grpSp>
      <p:sp>
        <p:nvSpPr>
          <p:cNvPr id="5" name="Freeform 5"/>
          <p:cNvSpPr/>
          <p:nvPr/>
        </p:nvSpPr>
        <p:spPr>
          <a:xfrm>
            <a:off x="-3725255" y="7105272"/>
            <a:ext cx="7450509" cy="7450509"/>
          </a:xfrm>
          <a:custGeom>
            <a:avLst/>
            <a:gdLst/>
            <a:ahLst/>
            <a:cxnLst/>
            <a:rect l="l" t="t" r="r" b="b"/>
            <a:pathLst>
              <a:path w="7450509" h="7450509">
                <a:moveTo>
                  <a:pt x="0" y="0"/>
                </a:moveTo>
                <a:lnTo>
                  <a:pt x="7450510" y="0"/>
                </a:lnTo>
                <a:lnTo>
                  <a:pt x="7450510" y="7450510"/>
                </a:lnTo>
                <a:lnTo>
                  <a:pt x="0" y="745051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16706625" y="-4304799"/>
            <a:ext cx="7450509" cy="7450509"/>
          </a:xfrm>
          <a:custGeom>
            <a:avLst/>
            <a:gdLst/>
            <a:ahLst/>
            <a:cxnLst/>
            <a:rect l="l" t="t" r="r" b="b"/>
            <a:pathLst>
              <a:path w="7450509" h="7450509">
                <a:moveTo>
                  <a:pt x="0" y="0"/>
                </a:moveTo>
                <a:lnTo>
                  <a:pt x="7450509" y="0"/>
                </a:lnTo>
                <a:lnTo>
                  <a:pt x="7450509" y="7450509"/>
                </a:lnTo>
                <a:lnTo>
                  <a:pt x="0" y="7450509"/>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7" name="Freeform 7"/>
          <p:cNvSpPr/>
          <p:nvPr/>
        </p:nvSpPr>
        <p:spPr>
          <a:xfrm>
            <a:off x="10928562" y="2549387"/>
            <a:ext cx="5778062" cy="5778062"/>
          </a:xfrm>
          <a:custGeom>
            <a:avLst/>
            <a:gdLst/>
            <a:ahLst/>
            <a:cxnLst/>
            <a:rect l="l" t="t" r="r" b="b"/>
            <a:pathLst>
              <a:path w="5778062" h="5778062">
                <a:moveTo>
                  <a:pt x="0" y="0"/>
                </a:moveTo>
                <a:lnTo>
                  <a:pt x="5778063" y="0"/>
                </a:lnTo>
                <a:lnTo>
                  <a:pt x="5778063" y="5778063"/>
                </a:lnTo>
                <a:lnTo>
                  <a:pt x="0" y="5778063"/>
                </a:lnTo>
                <a:lnTo>
                  <a:pt x="0" y="0"/>
                </a:lnTo>
                <a:close/>
              </a:path>
            </a:pathLst>
          </a:custGeom>
          <a:blipFill>
            <a:blip r:embed="rId3"/>
            <a:stretch>
              <a:fillRect/>
            </a:stretch>
          </a:blipFill>
        </p:spPr>
      </p:sp>
      <p:sp>
        <p:nvSpPr>
          <p:cNvPr id="8" name="TextBox 8"/>
          <p:cNvSpPr txBox="1"/>
          <p:nvPr/>
        </p:nvSpPr>
        <p:spPr>
          <a:xfrm>
            <a:off x="2686050" y="3084195"/>
            <a:ext cx="6852920" cy="1629410"/>
          </a:xfrm>
          <a:prstGeom prst="rect">
            <a:avLst/>
          </a:prstGeom>
        </p:spPr>
        <p:txBody>
          <a:bodyPr lIns="0" tIns="0" rIns="0" bIns="0" rtlCol="0" anchor="t">
            <a:noAutofit/>
          </a:bodyPr>
          <a:lstStyle/>
          <a:p>
            <a:pPr algn="l">
              <a:lnSpc>
                <a:spcPts val="12850"/>
              </a:lnSpc>
            </a:pPr>
            <a:r>
              <a:rPr lang="en-US" sz="11900" spc="392">
                <a:solidFill>
                  <a:srgbClr val="000000"/>
                </a:solidFill>
                <a:latin typeface="Dream Avenue" panose="02000503000000020004"/>
                <a:ea typeface="Dream Avenue" panose="02000503000000020004"/>
                <a:cs typeface="Dream Avenue" panose="02000503000000020004"/>
                <a:sym typeface="Dream Avenue" panose="02000503000000020004"/>
              </a:rPr>
              <a:t>Hangman</a:t>
            </a:r>
            <a:endParaRPr lang="en-US" sz="11900" spc="392">
              <a:solidFill>
                <a:srgbClr val="000000"/>
              </a:solidFill>
              <a:latin typeface="Dream Avenue" panose="02000503000000020004"/>
              <a:ea typeface="Dream Avenue" panose="02000503000000020004"/>
              <a:cs typeface="Dream Avenue" panose="02000503000000020004"/>
              <a:sym typeface="Dream Avenue" panose="020005030000000200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597202" y="2802763"/>
            <a:ext cx="8688355" cy="1646736"/>
          </a:xfrm>
          <a:prstGeom prst="rect">
            <a:avLst/>
          </a:prstGeom>
        </p:spPr>
        <p:txBody>
          <a:bodyPr lIns="0" tIns="0" rIns="0" bIns="0" rtlCol="0" anchor="t">
            <a:spAutoFit/>
          </a:bodyPr>
          <a:lstStyle/>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Hangman is a word-guessing game where the player tries to guess a hidden word by suggesting letters. For each incorrect guess, a part of the stick figure is drawn until it is complete, resulting in the "hanging" of the figure.(but here there are only eight chances to guess the word).</a:t>
            </a:r>
            <a:endParaRPr lang="en-US" sz="1915">
              <a:solidFill>
                <a:srgbClr val="010101"/>
              </a:solidFill>
              <a:latin typeface="Lora" panose="00000500000000000000"/>
              <a:ea typeface="Lora" panose="00000500000000000000"/>
              <a:cs typeface="Lora" panose="00000500000000000000"/>
              <a:sym typeface="Lora" panose="00000500000000000000"/>
            </a:endParaRPr>
          </a:p>
          <a:p>
            <a:pPr marL="0" lvl="0" indent="0" algn="l">
              <a:lnSpc>
                <a:spcPts val="2685"/>
              </a:lnSpc>
              <a:spcBef>
                <a:spcPct val="0"/>
              </a:spcBef>
            </a:pPr>
          </a:p>
        </p:txBody>
      </p:sp>
      <p:sp>
        <p:nvSpPr>
          <p:cNvPr id="3" name="TextBox 3"/>
          <p:cNvSpPr txBox="1"/>
          <p:nvPr/>
        </p:nvSpPr>
        <p:spPr>
          <a:xfrm>
            <a:off x="2597074" y="1141863"/>
            <a:ext cx="6546798" cy="1279055"/>
          </a:xfrm>
          <a:prstGeom prst="rect">
            <a:avLst/>
          </a:prstGeom>
        </p:spPr>
        <p:txBody>
          <a:bodyPr lIns="0" tIns="0" rIns="0" bIns="0" rtlCol="0" anchor="t">
            <a:spAutoFit/>
          </a:bodyPr>
          <a:lstStyle/>
          <a:p>
            <a:pPr marL="0" lvl="0" indent="0" algn="l">
              <a:lnSpc>
                <a:spcPts val="10350"/>
              </a:lnSpc>
              <a:spcBef>
                <a:spcPct val="0"/>
              </a:spcBef>
            </a:pPr>
            <a:r>
              <a:rPr lang="en-US" sz="7395" u="none" strike="noStrike" spc="96">
                <a:solidFill>
                  <a:srgbClr val="000000"/>
                </a:solidFill>
                <a:latin typeface="Dream Avenue" panose="02000503000000020004"/>
                <a:ea typeface="Dream Avenue" panose="02000503000000020004"/>
                <a:cs typeface="Dream Avenue" panose="02000503000000020004"/>
                <a:sym typeface="Dream Avenue" panose="02000503000000020004"/>
              </a:rPr>
              <a:t>Introduction</a:t>
            </a:r>
            <a:endParaRPr lang="en-US" sz="7395" u="none" strike="noStrike" spc="96">
              <a:solidFill>
                <a:srgbClr val="000000"/>
              </a:solidFill>
              <a:latin typeface="Dream Avenue" panose="02000503000000020004"/>
              <a:ea typeface="Dream Avenue" panose="02000503000000020004"/>
              <a:cs typeface="Dream Avenue" panose="02000503000000020004"/>
              <a:sym typeface="Dream Avenue" panose="02000503000000020004"/>
            </a:endParaRPr>
          </a:p>
        </p:txBody>
      </p:sp>
      <p:sp>
        <p:nvSpPr>
          <p:cNvPr id="4" name="TextBox 4"/>
          <p:cNvSpPr txBox="1"/>
          <p:nvPr/>
        </p:nvSpPr>
        <p:spPr>
          <a:xfrm>
            <a:off x="2597202" y="4401874"/>
            <a:ext cx="3848599" cy="438332"/>
          </a:xfrm>
          <a:prstGeom prst="rect">
            <a:avLst/>
          </a:prstGeom>
        </p:spPr>
        <p:txBody>
          <a:bodyPr lIns="0" tIns="0" rIns="0" bIns="0" rtlCol="0" anchor="t">
            <a:spAutoFit/>
          </a:bodyPr>
          <a:lstStyle/>
          <a:p>
            <a:pPr marL="0" lvl="0" indent="0" algn="l">
              <a:lnSpc>
                <a:spcPts val="3665"/>
              </a:lnSpc>
              <a:spcBef>
                <a:spcPct val="0"/>
              </a:spcBef>
            </a:pPr>
            <a:r>
              <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rPr>
              <a:t>How to play Hangman</a:t>
            </a:r>
            <a:endPar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endParaRPr>
          </a:p>
        </p:txBody>
      </p:sp>
      <p:grpSp>
        <p:nvGrpSpPr>
          <p:cNvPr id="5" name="Group 5"/>
          <p:cNvGrpSpPr/>
          <p:nvPr/>
        </p:nvGrpSpPr>
        <p:grpSpPr>
          <a:xfrm rot="0">
            <a:off x="-877281" y="0"/>
            <a:ext cx="3088591" cy="10287000"/>
            <a:chOff x="0" y="0"/>
            <a:chExt cx="813456" cy="2709333"/>
          </a:xfrm>
        </p:grpSpPr>
        <p:sp>
          <p:nvSpPr>
            <p:cNvPr id="6" name="Freeform 6"/>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7" name="TextBox 7"/>
            <p:cNvSpPr txBox="1"/>
            <p:nvPr/>
          </p:nvSpPr>
          <p:spPr>
            <a:xfrm>
              <a:off x="0" y="-28575"/>
              <a:ext cx="813456" cy="2737908"/>
            </a:xfrm>
            <a:prstGeom prst="rect">
              <a:avLst/>
            </a:prstGeom>
          </p:spPr>
          <p:txBody>
            <a:bodyPr lIns="50800" tIns="50800" rIns="50800" bIns="50800" rtlCol="0" anchor="ctr"/>
            <a:lstStyle/>
            <a:p>
              <a:pPr marL="0" lvl="0" indent="0" algn="ctr">
                <a:lnSpc>
                  <a:spcPts val="2850"/>
                </a:lnSpc>
                <a:spcBef>
                  <a:spcPct val="0"/>
                </a:spcBef>
              </a:pPr>
            </a:p>
          </p:txBody>
        </p:sp>
      </p:grpSp>
      <p:sp>
        <p:nvSpPr>
          <p:cNvPr id="8" name="TextBox 8"/>
          <p:cNvSpPr txBox="1"/>
          <p:nvPr/>
        </p:nvSpPr>
        <p:spPr>
          <a:xfrm>
            <a:off x="2597074" y="5114925"/>
            <a:ext cx="8541015" cy="3980361"/>
          </a:xfrm>
          <a:prstGeom prst="rect">
            <a:avLst/>
          </a:prstGeom>
        </p:spPr>
        <p:txBody>
          <a:bodyPr lIns="0" tIns="0" rIns="0" bIns="0" rtlCol="0" anchor="t">
            <a:spAutoFit/>
          </a:bodyPr>
          <a:lstStyle/>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Playing Hangman is simple and engaging. Players need to understand the rules of the game, follow the instructions, and use their vocabulary and deduction skills to guess the hidden word. The game is played in turns, with the player guessing a letter in each turn.</a:t>
            </a:r>
            <a:endParaRPr lang="en-US" sz="1915">
              <a:solidFill>
                <a:srgbClr val="010101"/>
              </a:solidFill>
              <a:latin typeface="Lora" panose="00000500000000000000"/>
              <a:ea typeface="Lora" panose="00000500000000000000"/>
              <a:cs typeface="Lora" panose="00000500000000000000"/>
              <a:sym typeface="Lora" panose="00000500000000000000"/>
            </a:endParaRPr>
          </a:p>
          <a:p>
            <a:pPr marL="414020" lvl="1" indent="-207010" algn="l">
              <a:lnSpc>
                <a:spcPts val="2685"/>
              </a:lnSpc>
              <a:buFont typeface="Arial" panose="020B0604020202020204"/>
              <a:buChar char="•"/>
            </a:pPr>
            <a:r>
              <a:rPr lang="en-US" sz="1915">
                <a:solidFill>
                  <a:srgbClr val="010101"/>
                </a:solidFill>
                <a:latin typeface="Lora" panose="00000500000000000000"/>
                <a:ea typeface="Lora" panose="00000500000000000000"/>
                <a:cs typeface="Lora" panose="00000500000000000000"/>
                <a:sym typeface="Lora" panose="00000500000000000000"/>
              </a:rPr>
              <a:t>The game starts by selecting a secret word randomly chosen by program.</a:t>
            </a:r>
            <a:endParaRPr lang="en-US" sz="1915">
              <a:solidFill>
                <a:srgbClr val="010101"/>
              </a:solidFill>
              <a:latin typeface="Lora" panose="00000500000000000000"/>
              <a:ea typeface="Lora" panose="00000500000000000000"/>
              <a:cs typeface="Lora" panose="00000500000000000000"/>
              <a:sym typeface="Lora" panose="00000500000000000000"/>
            </a:endParaRPr>
          </a:p>
          <a:p>
            <a:pPr marL="414020" lvl="1" indent="-207010" algn="l">
              <a:lnSpc>
                <a:spcPts val="2685"/>
              </a:lnSpc>
              <a:buFont typeface="Arial" panose="020B0604020202020204"/>
              <a:buChar char="•"/>
            </a:pPr>
            <a:r>
              <a:rPr lang="en-US" sz="1915">
                <a:solidFill>
                  <a:srgbClr val="010101"/>
                </a:solidFill>
                <a:latin typeface="Lora" panose="00000500000000000000"/>
                <a:ea typeface="Lora" panose="00000500000000000000"/>
                <a:cs typeface="Lora" panose="00000500000000000000"/>
                <a:sym typeface="Lora" panose="00000500000000000000"/>
              </a:rPr>
              <a:t>The player then guesses a letter that they think is in the word. Each correct guess reveals the letter's position in the hidden word.</a:t>
            </a:r>
            <a:endParaRPr lang="en-US" sz="1915">
              <a:solidFill>
                <a:srgbClr val="010101"/>
              </a:solidFill>
              <a:latin typeface="Lora" panose="00000500000000000000"/>
              <a:ea typeface="Lora" panose="00000500000000000000"/>
              <a:cs typeface="Lora" panose="00000500000000000000"/>
              <a:sym typeface="Lora" panose="00000500000000000000"/>
            </a:endParaRPr>
          </a:p>
          <a:p>
            <a:pPr marL="414020" lvl="1" indent="-207010" algn="l">
              <a:lnSpc>
                <a:spcPts val="2685"/>
              </a:lnSpc>
              <a:buFont typeface="Arial" panose="020B0604020202020204"/>
              <a:buChar char="•"/>
            </a:pPr>
            <a:r>
              <a:rPr lang="en-US" sz="1915">
                <a:solidFill>
                  <a:srgbClr val="010101"/>
                </a:solidFill>
                <a:latin typeface="Lora" panose="00000500000000000000"/>
                <a:ea typeface="Lora" panose="00000500000000000000"/>
                <a:cs typeface="Lora" panose="00000500000000000000"/>
                <a:sym typeface="Lora" panose="00000500000000000000"/>
              </a:rPr>
              <a:t>The process of guessing letters continues until the player either correctly guesses the entire word or the stick figure is fully drawn, indicating a loss.</a:t>
            </a:r>
            <a:endParaRPr lang="en-US" sz="1915">
              <a:solidFill>
                <a:srgbClr val="010101"/>
              </a:solidFill>
              <a:latin typeface="Lora" panose="00000500000000000000"/>
              <a:ea typeface="Lora" panose="00000500000000000000"/>
              <a:cs typeface="Lora" panose="00000500000000000000"/>
              <a:sym typeface="Lora" panose="00000500000000000000"/>
            </a:endParaRPr>
          </a:p>
          <a:p>
            <a:pPr marL="0" lvl="0" indent="0" algn="l">
              <a:lnSpc>
                <a:spcPts val="2685"/>
              </a:lnSpc>
              <a:spcBef>
                <a:spcPct val="0"/>
              </a:spcBef>
            </a:pPr>
          </a:p>
        </p:txBody>
      </p:sp>
      <p:sp>
        <p:nvSpPr>
          <p:cNvPr id="9" name="Freeform 9"/>
          <p:cNvSpPr/>
          <p:nvPr/>
        </p:nvSpPr>
        <p:spPr>
          <a:xfrm rot="-5400000">
            <a:off x="-2421094" y="4207228"/>
            <a:ext cx="8543440" cy="1872544"/>
          </a:xfrm>
          <a:custGeom>
            <a:avLst/>
            <a:gdLst/>
            <a:ahLst/>
            <a:cxnLst/>
            <a:rect l="l" t="t" r="r" b="b"/>
            <a:pathLst>
              <a:path w="8543440" h="1872544">
                <a:moveTo>
                  <a:pt x="0" y="0"/>
                </a:moveTo>
                <a:lnTo>
                  <a:pt x="8543440" y="0"/>
                </a:lnTo>
                <a:lnTo>
                  <a:pt x="8543440" y="1872544"/>
                </a:lnTo>
                <a:lnTo>
                  <a:pt x="0" y="1872544"/>
                </a:lnTo>
                <a:lnTo>
                  <a:pt x="0" y="0"/>
                </a:lnTo>
                <a:close/>
              </a:path>
            </a:pathLst>
          </a:custGeom>
          <a:blipFill>
            <a:blip r:embed="rId1">
              <a:extLst>
                <a:ext uri="{96DAC541-7B7A-43D3-8B79-37D633B846F1}">
                  <asvg:svgBlip xmlns:asvg="http://schemas.microsoft.com/office/drawing/2016/SVG/main" r:embed="rId2"/>
                </a:ext>
              </a:extLst>
            </a:blip>
            <a:stretch>
              <a:fillRect b="-38523"/>
            </a:stretch>
          </a:blipFill>
        </p:spPr>
      </p:sp>
      <p:sp>
        <p:nvSpPr>
          <p:cNvPr id="10" name="Freeform 10"/>
          <p:cNvSpPr/>
          <p:nvPr/>
        </p:nvSpPr>
        <p:spPr>
          <a:xfrm>
            <a:off x="10900870" y="2341544"/>
            <a:ext cx="6952853" cy="5603911"/>
          </a:xfrm>
          <a:custGeom>
            <a:avLst/>
            <a:gdLst/>
            <a:ahLst/>
            <a:cxnLst/>
            <a:rect l="l" t="t" r="r" b="b"/>
            <a:pathLst>
              <a:path w="6952853" h="5603911">
                <a:moveTo>
                  <a:pt x="0" y="0"/>
                </a:moveTo>
                <a:lnTo>
                  <a:pt x="6952854" y="0"/>
                </a:lnTo>
                <a:lnTo>
                  <a:pt x="6952854" y="5603912"/>
                </a:lnTo>
                <a:lnTo>
                  <a:pt x="0" y="5603912"/>
                </a:lnTo>
                <a:lnTo>
                  <a:pt x="0" y="0"/>
                </a:lnTo>
                <a:close/>
              </a:path>
            </a:pathLst>
          </a:custGeom>
          <a:blipFill>
            <a:blip r:embed="rId3"/>
            <a:stretch>
              <a:fillRect l="-13282" r="-28041"/>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FD3CA"/>
        </a:solidFill>
        <a:effectLst/>
      </p:bgPr>
    </p:bg>
    <p:spTree>
      <p:nvGrpSpPr>
        <p:cNvPr id="1" name=""/>
        <p:cNvGrpSpPr/>
        <p:nvPr/>
      </p:nvGrpSpPr>
      <p:grpSpPr>
        <a:xfrm>
          <a:off x="0" y="0"/>
          <a:ext cx="0" cy="0"/>
          <a:chOff x="0" y="0"/>
          <a:chExt cx="0" cy="0"/>
        </a:xfrm>
      </p:grpSpPr>
      <p:sp>
        <p:nvSpPr>
          <p:cNvPr id="2" name="Freeform 2"/>
          <p:cNvSpPr/>
          <p:nvPr/>
        </p:nvSpPr>
        <p:spPr>
          <a:xfrm>
            <a:off x="10273659" y="2462915"/>
            <a:ext cx="6272763" cy="6014011"/>
          </a:xfrm>
          <a:custGeom>
            <a:avLst/>
            <a:gdLst/>
            <a:ahLst/>
            <a:cxnLst/>
            <a:rect l="l" t="t" r="r" b="b"/>
            <a:pathLst>
              <a:path w="6272763" h="6014011">
                <a:moveTo>
                  <a:pt x="0" y="0"/>
                </a:moveTo>
                <a:lnTo>
                  <a:pt x="6272763" y="0"/>
                </a:lnTo>
                <a:lnTo>
                  <a:pt x="6272763" y="6014011"/>
                </a:lnTo>
                <a:lnTo>
                  <a:pt x="0" y="6014011"/>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071900" y="-1271394"/>
            <a:ext cx="2860913" cy="2850185"/>
          </a:xfrm>
          <a:custGeom>
            <a:avLst/>
            <a:gdLst/>
            <a:ahLst/>
            <a:cxnLst/>
            <a:rect l="l" t="t" r="r" b="b"/>
            <a:pathLst>
              <a:path w="2860913" h="2850185">
                <a:moveTo>
                  <a:pt x="0" y="0"/>
                </a:moveTo>
                <a:lnTo>
                  <a:pt x="2860913" y="0"/>
                </a:lnTo>
                <a:lnTo>
                  <a:pt x="2860913" y="2850185"/>
                </a:lnTo>
                <a:lnTo>
                  <a:pt x="0" y="2850185"/>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4" name="Freeform 4"/>
          <p:cNvSpPr/>
          <p:nvPr/>
        </p:nvSpPr>
        <p:spPr>
          <a:xfrm>
            <a:off x="16546422" y="8476926"/>
            <a:ext cx="3035383" cy="3024000"/>
          </a:xfrm>
          <a:custGeom>
            <a:avLst/>
            <a:gdLst/>
            <a:ahLst/>
            <a:cxnLst/>
            <a:rect l="l" t="t" r="r" b="b"/>
            <a:pathLst>
              <a:path w="3035383" h="3024000">
                <a:moveTo>
                  <a:pt x="0" y="0"/>
                </a:moveTo>
                <a:lnTo>
                  <a:pt x="3035383" y="0"/>
                </a:lnTo>
                <a:lnTo>
                  <a:pt x="3035383" y="3024000"/>
                </a:lnTo>
                <a:lnTo>
                  <a:pt x="0" y="3024000"/>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sp>
      <p:sp>
        <p:nvSpPr>
          <p:cNvPr id="5" name="Freeform 5"/>
          <p:cNvSpPr/>
          <p:nvPr/>
        </p:nvSpPr>
        <p:spPr>
          <a:xfrm>
            <a:off x="825842" y="8476926"/>
            <a:ext cx="1926343" cy="1474528"/>
          </a:xfrm>
          <a:custGeom>
            <a:avLst/>
            <a:gdLst/>
            <a:ahLst/>
            <a:cxnLst/>
            <a:rect l="l" t="t" r="r" b="b"/>
            <a:pathLst>
              <a:path w="1926343" h="1474528">
                <a:moveTo>
                  <a:pt x="0" y="0"/>
                </a:moveTo>
                <a:lnTo>
                  <a:pt x="1926343" y="0"/>
                </a:lnTo>
                <a:lnTo>
                  <a:pt x="1926343" y="1474528"/>
                </a:lnTo>
                <a:lnTo>
                  <a:pt x="0" y="147452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Freeform 6"/>
          <p:cNvSpPr/>
          <p:nvPr/>
        </p:nvSpPr>
        <p:spPr>
          <a:xfrm>
            <a:off x="16126038" y="836949"/>
            <a:ext cx="1926343" cy="1474528"/>
          </a:xfrm>
          <a:custGeom>
            <a:avLst/>
            <a:gdLst/>
            <a:ahLst/>
            <a:cxnLst/>
            <a:rect l="l" t="t" r="r" b="b"/>
            <a:pathLst>
              <a:path w="1926343" h="1474528">
                <a:moveTo>
                  <a:pt x="0" y="0"/>
                </a:moveTo>
                <a:lnTo>
                  <a:pt x="1926343" y="0"/>
                </a:lnTo>
                <a:lnTo>
                  <a:pt x="1926343" y="1474528"/>
                </a:lnTo>
                <a:lnTo>
                  <a:pt x="0" y="147452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7" name="Freeform 7"/>
          <p:cNvSpPr/>
          <p:nvPr/>
        </p:nvSpPr>
        <p:spPr>
          <a:xfrm>
            <a:off x="8416831" y="2075730"/>
            <a:ext cx="8129591" cy="6135540"/>
          </a:xfrm>
          <a:custGeom>
            <a:avLst/>
            <a:gdLst/>
            <a:ahLst/>
            <a:cxnLst/>
            <a:rect l="l" t="t" r="r" b="b"/>
            <a:pathLst>
              <a:path w="8129591" h="6135540">
                <a:moveTo>
                  <a:pt x="0" y="0"/>
                </a:moveTo>
                <a:lnTo>
                  <a:pt x="8129591" y="0"/>
                </a:lnTo>
                <a:lnTo>
                  <a:pt x="8129591" y="6135540"/>
                </a:lnTo>
                <a:lnTo>
                  <a:pt x="0" y="6135540"/>
                </a:lnTo>
                <a:lnTo>
                  <a:pt x="0" y="0"/>
                </a:lnTo>
                <a:close/>
              </a:path>
            </a:pathLst>
          </a:custGeom>
          <a:blipFill>
            <a:blip r:embed="rId7"/>
            <a:stretch>
              <a:fillRect/>
            </a:stretch>
          </a:blipFill>
        </p:spPr>
      </p:sp>
      <p:sp>
        <p:nvSpPr>
          <p:cNvPr id="8" name="TextBox 8"/>
          <p:cNvSpPr txBox="1"/>
          <p:nvPr/>
        </p:nvSpPr>
        <p:spPr>
          <a:xfrm>
            <a:off x="1789013" y="760288"/>
            <a:ext cx="6627818" cy="1303999"/>
          </a:xfrm>
          <a:prstGeom prst="rect">
            <a:avLst/>
          </a:prstGeom>
        </p:spPr>
        <p:txBody>
          <a:bodyPr lIns="0" tIns="0" rIns="0" bIns="0" rtlCol="0" anchor="t">
            <a:spAutoFit/>
          </a:bodyPr>
          <a:lstStyle/>
          <a:p>
            <a:pPr marL="0" lvl="0" indent="0" algn="l">
              <a:lnSpc>
                <a:spcPts val="10595"/>
              </a:lnSpc>
              <a:spcBef>
                <a:spcPct val="0"/>
              </a:spcBef>
            </a:pPr>
            <a:r>
              <a:rPr lang="en-US" sz="6460">
                <a:solidFill>
                  <a:srgbClr val="000000"/>
                </a:solidFill>
                <a:latin typeface="TAN Pearl"/>
                <a:ea typeface="TAN Pearl"/>
                <a:cs typeface="TAN Pearl"/>
                <a:sym typeface="TAN Pearl"/>
              </a:rPr>
              <a:t>Rules</a:t>
            </a:r>
            <a:endParaRPr lang="en-US" sz="6460">
              <a:solidFill>
                <a:srgbClr val="000000"/>
              </a:solidFill>
              <a:latin typeface="TAN Pearl"/>
              <a:ea typeface="TAN Pearl"/>
              <a:cs typeface="TAN Pearl"/>
              <a:sym typeface="TAN Pearl"/>
            </a:endParaRPr>
          </a:p>
        </p:txBody>
      </p:sp>
      <p:sp>
        <p:nvSpPr>
          <p:cNvPr id="9" name="TextBox 9"/>
          <p:cNvSpPr txBox="1"/>
          <p:nvPr/>
        </p:nvSpPr>
        <p:spPr>
          <a:xfrm>
            <a:off x="1789013" y="2273377"/>
            <a:ext cx="5815576" cy="1286128"/>
          </a:xfrm>
          <a:prstGeom prst="rect">
            <a:avLst/>
          </a:prstGeom>
        </p:spPr>
        <p:txBody>
          <a:bodyPr lIns="0" tIns="0" rIns="0" bIns="0" rtlCol="0" anchor="t">
            <a:spAutoFit/>
          </a:bodyPr>
          <a:lstStyle/>
          <a:p>
            <a:pPr algn="l">
              <a:lnSpc>
                <a:spcPts val="2610"/>
              </a:lnSpc>
            </a:pPr>
            <a:r>
              <a:rPr lang="en-US" sz="1865">
                <a:solidFill>
                  <a:srgbClr val="010101"/>
                </a:solidFill>
                <a:latin typeface="Lora" panose="00000500000000000000"/>
                <a:ea typeface="Lora" panose="00000500000000000000"/>
                <a:cs typeface="Lora" panose="00000500000000000000"/>
                <a:sym typeface="Lora" panose="00000500000000000000"/>
              </a:rPr>
              <a:t>Rule 1: Alphabet Only</a:t>
            </a:r>
            <a:endParaRPr lang="en-US" sz="1865">
              <a:solidFill>
                <a:srgbClr val="010101"/>
              </a:solidFill>
              <a:latin typeface="Lora" panose="00000500000000000000"/>
              <a:ea typeface="Lora" panose="00000500000000000000"/>
              <a:cs typeface="Lora" panose="00000500000000000000"/>
              <a:sym typeface="Lora" panose="00000500000000000000"/>
            </a:endParaRPr>
          </a:p>
          <a:p>
            <a:pPr algn="l">
              <a:lnSpc>
                <a:spcPts val="2610"/>
              </a:lnSpc>
            </a:pPr>
            <a:r>
              <a:rPr lang="en-US" sz="1865">
                <a:solidFill>
                  <a:srgbClr val="010101"/>
                </a:solidFill>
                <a:latin typeface="Lora" panose="00000500000000000000"/>
                <a:ea typeface="Lora" panose="00000500000000000000"/>
                <a:cs typeface="Lora" panose="00000500000000000000"/>
                <a:sym typeface="Lora" panose="00000500000000000000"/>
              </a:rPr>
              <a:t>The player can only guess individual letters from the alphabet, one at a time.</a:t>
            </a:r>
            <a:endParaRPr lang="en-US" sz="1865">
              <a:solidFill>
                <a:srgbClr val="010101"/>
              </a:solidFill>
              <a:latin typeface="Lora" panose="00000500000000000000"/>
              <a:ea typeface="Lora" panose="00000500000000000000"/>
              <a:cs typeface="Lora" panose="00000500000000000000"/>
              <a:sym typeface="Lora" panose="00000500000000000000"/>
            </a:endParaRPr>
          </a:p>
          <a:p>
            <a:pPr marL="0" lvl="0" indent="0" algn="l">
              <a:lnSpc>
                <a:spcPts val="2610"/>
              </a:lnSpc>
              <a:spcBef>
                <a:spcPct val="0"/>
              </a:spcBef>
            </a:pPr>
          </a:p>
        </p:txBody>
      </p:sp>
      <p:sp>
        <p:nvSpPr>
          <p:cNvPr id="10" name="TextBox 10"/>
          <p:cNvSpPr txBox="1"/>
          <p:nvPr/>
        </p:nvSpPr>
        <p:spPr>
          <a:xfrm>
            <a:off x="1789013" y="3521405"/>
            <a:ext cx="5815576" cy="1609978"/>
          </a:xfrm>
          <a:prstGeom prst="rect">
            <a:avLst/>
          </a:prstGeom>
        </p:spPr>
        <p:txBody>
          <a:bodyPr lIns="0" tIns="0" rIns="0" bIns="0" rtlCol="0" anchor="t">
            <a:spAutoFit/>
          </a:bodyPr>
          <a:lstStyle/>
          <a:p>
            <a:pPr algn="l">
              <a:lnSpc>
                <a:spcPts val="2610"/>
              </a:lnSpc>
            </a:pPr>
            <a:r>
              <a:rPr lang="en-US" sz="1865">
                <a:solidFill>
                  <a:srgbClr val="010101"/>
                </a:solidFill>
                <a:latin typeface="Lora" panose="00000500000000000000"/>
                <a:ea typeface="Lora" panose="00000500000000000000"/>
                <a:cs typeface="Lora" panose="00000500000000000000"/>
                <a:sym typeface="Lora" panose="00000500000000000000"/>
              </a:rPr>
              <a:t>Rule 2: No Repeating Letters</a:t>
            </a:r>
            <a:endParaRPr lang="en-US" sz="1865">
              <a:solidFill>
                <a:srgbClr val="010101"/>
              </a:solidFill>
              <a:latin typeface="Lora" panose="00000500000000000000"/>
              <a:ea typeface="Lora" panose="00000500000000000000"/>
              <a:cs typeface="Lora" panose="00000500000000000000"/>
              <a:sym typeface="Lora" panose="00000500000000000000"/>
            </a:endParaRPr>
          </a:p>
          <a:p>
            <a:pPr algn="l">
              <a:lnSpc>
                <a:spcPts val="2610"/>
              </a:lnSpc>
            </a:pPr>
            <a:r>
              <a:rPr lang="en-US" sz="1865">
                <a:solidFill>
                  <a:srgbClr val="010101"/>
                </a:solidFill>
                <a:latin typeface="Lora" panose="00000500000000000000"/>
                <a:ea typeface="Lora" panose="00000500000000000000"/>
                <a:cs typeface="Lora" panose="00000500000000000000"/>
                <a:sym typeface="Lora" panose="00000500000000000000"/>
              </a:rPr>
              <a:t>Players cannot guess the same letter multiple times in a single game. This prevents players from simply guessing all letters in the alphabet.</a:t>
            </a:r>
            <a:endParaRPr lang="en-US" sz="1865">
              <a:solidFill>
                <a:srgbClr val="010101"/>
              </a:solidFill>
              <a:latin typeface="Lora" panose="00000500000000000000"/>
              <a:ea typeface="Lora" panose="00000500000000000000"/>
              <a:cs typeface="Lora" panose="00000500000000000000"/>
              <a:sym typeface="Lora" panose="00000500000000000000"/>
            </a:endParaRPr>
          </a:p>
          <a:p>
            <a:pPr marL="0" lvl="0" indent="0" algn="l">
              <a:lnSpc>
                <a:spcPts val="2610"/>
              </a:lnSpc>
              <a:spcBef>
                <a:spcPct val="0"/>
              </a:spcBef>
            </a:pPr>
          </a:p>
        </p:txBody>
      </p:sp>
      <p:sp>
        <p:nvSpPr>
          <p:cNvPr id="11" name="TextBox 11"/>
          <p:cNvSpPr txBox="1"/>
          <p:nvPr/>
        </p:nvSpPr>
        <p:spPr>
          <a:xfrm>
            <a:off x="1789013" y="5105400"/>
            <a:ext cx="5815576" cy="1286128"/>
          </a:xfrm>
          <a:prstGeom prst="rect">
            <a:avLst/>
          </a:prstGeom>
        </p:spPr>
        <p:txBody>
          <a:bodyPr lIns="0" tIns="0" rIns="0" bIns="0" rtlCol="0" anchor="t">
            <a:spAutoFit/>
          </a:bodyPr>
          <a:lstStyle/>
          <a:p>
            <a:pPr algn="l">
              <a:lnSpc>
                <a:spcPts val="2610"/>
              </a:lnSpc>
            </a:pPr>
            <a:r>
              <a:rPr lang="en-US" sz="1865">
                <a:solidFill>
                  <a:srgbClr val="010101"/>
                </a:solidFill>
                <a:latin typeface="Lora" panose="00000500000000000000"/>
                <a:ea typeface="Lora" panose="00000500000000000000"/>
                <a:cs typeface="Lora" panose="00000500000000000000"/>
                <a:sym typeface="Lora" panose="00000500000000000000"/>
              </a:rPr>
              <a:t>Rule 3: Letters Only</a:t>
            </a:r>
            <a:endParaRPr lang="en-US" sz="1865">
              <a:solidFill>
                <a:srgbClr val="010101"/>
              </a:solidFill>
              <a:latin typeface="Lora" panose="00000500000000000000"/>
              <a:ea typeface="Lora" panose="00000500000000000000"/>
              <a:cs typeface="Lora" panose="00000500000000000000"/>
              <a:sym typeface="Lora" panose="00000500000000000000"/>
            </a:endParaRPr>
          </a:p>
          <a:p>
            <a:pPr algn="l">
              <a:lnSpc>
                <a:spcPts val="2610"/>
              </a:lnSpc>
            </a:pPr>
            <a:r>
              <a:rPr lang="en-US" sz="1865">
                <a:solidFill>
                  <a:srgbClr val="010101"/>
                </a:solidFill>
                <a:latin typeface="Lora" panose="00000500000000000000"/>
                <a:ea typeface="Lora" panose="00000500000000000000"/>
                <a:cs typeface="Lora" panose="00000500000000000000"/>
                <a:sym typeface="Lora" panose="00000500000000000000"/>
              </a:rPr>
              <a:t>Players cannot guess whole words or phrases. They are limited to guessing individual letters only.</a:t>
            </a:r>
            <a:endParaRPr lang="en-US" sz="1865">
              <a:solidFill>
                <a:srgbClr val="010101"/>
              </a:solidFill>
              <a:latin typeface="Lora" panose="00000500000000000000"/>
              <a:ea typeface="Lora" panose="00000500000000000000"/>
              <a:cs typeface="Lora" panose="00000500000000000000"/>
              <a:sym typeface="Lora" panose="00000500000000000000"/>
            </a:endParaRPr>
          </a:p>
          <a:p>
            <a:pPr marL="0" lvl="0" indent="0" algn="l">
              <a:lnSpc>
                <a:spcPts val="2610"/>
              </a:lnSpc>
              <a:spcBef>
                <a:spcPct val="0"/>
              </a:spcBef>
            </a:pPr>
          </a:p>
        </p:txBody>
      </p:sp>
      <p:sp>
        <p:nvSpPr>
          <p:cNvPr id="12" name="TextBox 12"/>
          <p:cNvSpPr txBox="1"/>
          <p:nvPr/>
        </p:nvSpPr>
        <p:spPr>
          <a:xfrm>
            <a:off x="1789013" y="6362953"/>
            <a:ext cx="5815576" cy="1609978"/>
          </a:xfrm>
          <a:prstGeom prst="rect">
            <a:avLst/>
          </a:prstGeom>
        </p:spPr>
        <p:txBody>
          <a:bodyPr lIns="0" tIns="0" rIns="0" bIns="0" rtlCol="0" anchor="t">
            <a:spAutoFit/>
          </a:bodyPr>
          <a:lstStyle/>
          <a:p>
            <a:pPr algn="l">
              <a:lnSpc>
                <a:spcPts val="2610"/>
              </a:lnSpc>
            </a:pPr>
            <a:r>
              <a:rPr lang="en-US" sz="1865">
                <a:solidFill>
                  <a:srgbClr val="010101"/>
                </a:solidFill>
                <a:latin typeface="Lora" panose="00000500000000000000"/>
                <a:ea typeface="Lora" panose="00000500000000000000"/>
                <a:cs typeface="Lora" panose="00000500000000000000"/>
                <a:sym typeface="Lora" panose="00000500000000000000"/>
              </a:rPr>
              <a:t>Rule 4: Guessing Ends When Chances are over</a:t>
            </a:r>
            <a:endParaRPr lang="en-US" sz="1865">
              <a:solidFill>
                <a:srgbClr val="010101"/>
              </a:solidFill>
              <a:latin typeface="Lora" panose="00000500000000000000"/>
              <a:ea typeface="Lora" panose="00000500000000000000"/>
              <a:cs typeface="Lora" panose="00000500000000000000"/>
              <a:sym typeface="Lora" panose="00000500000000000000"/>
            </a:endParaRPr>
          </a:p>
          <a:p>
            <a:pPr algn="l">
              <a:lnSpc>
                <a:spcPts val="2610"/>
              </a:lnSpc>
            </a:pPr>
            <a:r>
              <a:rPr lang="en-US" sz="1865">
                <a:solidFill>
                  <a:srgbClr val="010101"/>
                </a:solidFill>
                <a:latin typeface="Lora" panose="00000500000000000000"/>
                <a:ea typeface="Lora" panose="00000500000000000000"/>
                <a:cs typeface="Lora" panose="00000500000000000000"/>
                <a:sym typeface="Lora" panose="00000500000000000000"/>
              </a:rPr>
              <a:t>The player can continue to guess letters until given chances are over after which the game is over and the player loses.</a:t>
            </a:r>
            <a:endParaRPr lang="en-US" sz="1865">
              <a:solidFill>
                <a:srgbClr val="010101"/>
              </a:solidFill>
              <a:latin typeface="Lora" panose="00000500000000000000"/>
              <a:ea typeface="Lora" panose="00000500000000000000"/>
              <a:cs typeface="Lora" panose="00000500000000000000"/>
              <a:sym typeface="Lora" panose="00000500000000000000"/>
            </a:endParaRPr>
          </a:p>
          <a:p>
            <a:pPr marL="0" lvl="0" indent="0" algn="l">
              <a:lnSpc>
                <a:spcPts val="2610"/>
              </a:lnSpc>
              <a:spcBef>
                <a:spcPct val="0"/>
              </a:spcBef>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TextBox 2"/>
          <p:cNvSpPr txBox="1"/>
          <p:nvPr/>
        </p:nvSpPr>
        <p:spPr>
          <a:xfrm>
            <a:off x="2597202" y="2802763"/>
            <a:ext cx="11936930" cy="5980611"/>
          </a:xfrm>
          <a:prstGeom prst="rect">
            <a:avLst/>
          </a:prstGeom>
        </p:spPr>
        <p:txBody>
          <a:bodyPr lIns="0" tIns="0" rIns="0" bIns="0" rtlCol="0" anchor="t">
            <a:spAutoFit/>
          </a:bodyPr>
          <a:lstStyle/>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Python is a high-level, interpreted language known for its simplicity and broad applicability. Created by Guido van Rossum in 1991, it's widely used for web development, data science, machine learning, automation, and more.</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Key Features:</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Readable: Easy-to-read syntax, great for beginners.</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Versatile: Supports tasks from web development to AI.</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Interpreted: Executes code line-by-line, simplifying debugging.</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Dynamic Typing: No need for explicit data type declarations.</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Large Library: Built-in support for tasks like regex and networking.</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Cross-Platform: Runs on Windows, macOS, and Linux without changes.</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Popular Libraries:</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Web Development: Django, Flask</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Data Science/ML: Pandas, TensorFlow, Scikit-learn</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Automation: Selenium</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 GUI: Tkinter, PyQt</a:t>
            </a:r>
            <a:endParaRPr lang="en-US" sz="1915">
              <a:solidFill>
                <a:srgbClr val="010101"/>
              </a:solidFill>
              <a:latin typeface="Lora" panose="00000500000000000000"/>
              <a:ea typeface="Lora" panose="00000500000000000000"/>
              <a:cs typeface="Lora" panose="00000500000000000000"/>
              <a:sym typeface="Lora" panose="00000500000000000000"/>
            </a:endParaRPr>
          </a:p>
          <a:p>
            <a:pPr algn="l">
              <a:lnSpc>
                <a:spcPts val="2685"/>
              </a:lnSpc>
            </a:pPr>
            <a:r>
              <a:rPr lang="en-US" sz="1915">
                <a:solidFill>
                  <a:srgbClr val="010101"/>
                </a:solidFill>
                <a:latin typeface="Lora" panose="00000500000000000000"/>
                <a:ea typeface="Lora" panose="00000500000000000000"/>
                <a:cs typeface="Lora" panose="00000500000000000000"/>
                <a:sym typeface="Lora" panose="00000500000000000000"/>
              </a:rPr>
              <a:t>Why Choose Python?</a:t>
            </a:r>
            <a:endParaRPr lang="en-US" sz="1915">
              <a:solidFill>
                <a:srgbClr val="010101"/>
              </a:solidFill>
              <a:latin typeface="Lora" panose="00000500000000000000"/>
              <a:ea typeface="Lora" panose="00000500000000000000"/>
              <a:cs typeface="Lora" panose="00000500000000000000"/>
              <a:sym typeface="Lora" panose="00000500000000000000"/>
            </a:endParaRPr>
          </a:p>
          <a:p>
            <a:pPr marL="0" lvl="0" indent="0" algn="l">
              <a:lnSpc>
                <a:spcPts val="2685"/>
              </a:lnSpc>
              <a:spcBef>
                <a:spcPct val="0"/>
              </a:spcBef>
            </a:pPr>
            <a:r>
              <a:rPr lang="en-US" sz="1915">
                <a:solidFill>
                  <a:srgbClr val="010101"/>
                </a:solidFill>
                <a:latin typeface="Lora" panose="00000500000000000000"/>
                <a:ea typeface="Lora" panose="00000500000000000000"/>
                <a:cs typeface="Lora" panose="00000500000000000000"/>
                <a:sym typeface="Lora" panose="00000500000000000000"/>
              </a:rPr>
              <a:t>- Easy to learn, vast library support, strong community, ideal for all scales of development.</a:t>
            </a:r>
            <a:endParaRPr lang="en-US" sz="1915">
              <a:solidFill>
                <a:srgbClr val="010101"/>
              </a:solidFill>
              <a:latin typeface="Lora" panose="00000500000000000000"/>
              <a:ea typeface="Lora" panose="00000500000000000000"/>
              <a:cs typeface="Lora" panose="00000500000000000000"/>
              <a:sym typeface="Lora" panose="00000500000000000000"/>
            </a:endParaRPr>
          </a:p>
        </p:txBody>
      </p:sp>
      <p:sp>
        <p:nvSpPr>
          <p:cNvPr id="3" name="TextBox 3"/>
          <p:cNvSpPr txBox="1"/>
          <p:nvPr/>
        </p:nvSpPr>
        <p:spPr>
          <a:xfrm>
            <a:off x="2597074" y="1141863"/>
            <a:ext cx="9007839" cy="1279055"/>
          </a:xfrm>
          <a:prstGeom prst="rect">
            <a:avLst/>
          </a:prstGeom>
        </p:spPr>
        <p:txBody>
          <a:bodyPr lIns="0" tIns="0" rIns="0" bIns="0" rtlCol="0" anchor="t">
            <a:spAutoFit/>
          </a:bodyPr>
          <a:lstStyle/>
          <a:p>
            <a:pPr marL="0" lvl="0" indent="0" algn="l">
              <a:lnSpc>
                <a:spcPts val="10350"/>
              </a:lnSpc>
              <a:spcBef>
                <a:spcPct val="0"/>
              </a:spcBef>
            </a:pPr>
            <a:r>
              <a:rPr lang="en-US" sz="7395" spc="96">
                <a:solidFill>
                  <a:srgbClr val="000000"/>
                </a:solidFill>
                <a:latin typeface="Dream Avenue" panose="02000503000000020004"/>
                <a:ea typeface="Dream Avenue" panose="02000503000000020004"/>
                <a:cs typeface="Dream Avenue" panose="02000503000000020004"/>
                <a:sym typeface="Dream Avenue" panose="02000503000000020004"/>
              </a:rPr>
              <a:t>Overview of Python</a:t>
            </a:r>
            <a:endParaRPr lang="en-US" sz="7395" spc="96">
              <a:solidFill>
                <a:srgbClr val="000000"/>
              </a:solidFill>
              <a:latin typeface="Dream Avenue" panose="02000503000000020004"/>
              <a:ea typeface="Dream Avenue" panose="02000503000000020004"/>
              <a:cs typeface="Dream Avenue" panose="02000503000000020004"/>
              <a:sym typeface="Dream Avenue" panose="02000503000000020004"/>
            </a:endParaRPr>
          </a:p>
        </p:txBody>
      </p:sp>
      <p:grpSp>
        <p:nvGrpSpPr>
          <p:cNvPr id="4" name="Group 4"/>
          <p:cNvGrpSpPr/>
          <p:nvPr/>
        </p:nvGrpSpPr>
        <p:grpSpPr>
          <a:xfrm rot="0">
            <a:off x="-877281" y="0"/>
            <a:ext cx="3088591" cy="10287000"/>
            <a:chOff x="0" y="0"/>
            <a:chExt cx="813456" cy="2709333"/>
          </a:xfrm>
        </p:grpSpPr>
        <p:sp>
          <p:nvSpPr>
            <p:cNvPr id="5" name="Freeform 5"/>
            <p:cNvSpPr/>
            <p:nvPr/>
          </p:nvSpPr>
          <p:spPr>
            <a:xfrm>
              <a:off x="0" y="0"/>
              <a:ext cx="813456" cy="2709333"/>
            </a:xfrm>
            <a:custGeom>
              <a:avLst/>
              <a:gdLst/>
              <a:ahLst/>
              <a:cxnLst/>
              <a:rect l="l" t="t" r="r" b="b"/>
              <a:pathLst>
                <a:path w="813456" h="2709333">
                  <a:moveTo>
                    <a:pt x="0" y="0"/>
                  </a:moveTo>
                  <a:lnTo>
                    <a:pt x="813456" y="0"/>
                  </a:lnTo>
                  <a:lnTo>
                    <a:pt x="813456" y="2709333"/>
                  </a:lnTo>
                  <a:lnTo>
                    <a:pt x="0" y="2709333"/>
                  </a:lnTo>
                  <a:close/>
                </a:path>
              </a:pathLst>
            </a:custGeom>
            <a:solidFill>
              <a:srgbClr val="DFD3CA"/>
            </a:solidFill>
            <a:ln cap="sq">
              <a:noFill/>
              <a:prstDash val="solid"/>
              <a:miter/>
            </a:ln>
          </p:spPr>
        </p:sp>
        <p:sp>
          <p:nvSpPr>
            <p:cNvPr id="6" name="TextBox 6"/>
            <p:cNvSpPr txBox="1"/>
            <p:nvPr/>
          </p:nvSpPr>
          <p:spPr>
            <a:xfrm>
              <a:off x="0" y="-28575"/>
              <a:ext cx="813456" cy="2737908"/>
            </a:xfrm>
            <a:prstGeom prst="rect">
              <a:avLst/>
            </a:prstGeom>
          </p:spPr>
          <p:txBody>
            <a:bodyPr lIns="50800" tIns="50800" rIns="50800" bIns="50800" rtlCol="0" anchor="ctr"/>
            <a:lstStyle/>
            <a:p>
              <a:pPr marL="0" lvl="0" indent="0" algn="ctr">
                <a:lnSpc>
                  <a:spcPts val="2850"/>
                </a:lnSpc>
                <a:spcBef>
                  <a:spcPct val="0"/>
                </a:spcBef>
              </a:pPr>
            </a:p>
          </p:txBody>
        </p:sp>
      </p:grpSp>
      <p:sp>
        <p:nvSpPr>
          <p:cNvPr id="7" name="Freeform 7"/>
          <p:cNvSpPr/>
          <p:nvPr/>
        </p:nvSpPr>
        <p:spPr>
          <a:xfrm rot="-5400000">
            <a:off x="-2421094" y="4207228"/>
            <a:ext cx="8543440" cy="1872544"/>
          </a:xfrm>
          <a:custGeom>
            <a:avLst/>
            <a:gdLst/>
            <a:ahLst/>
            <a:cxnLst/>
            <a:rect l="l" t="t" r="r" b="b"/>
            <a:pathLst>
              <a:path w="8543440" h="1872544">
                <a:moveTo>
                  <a:pt x="0" y="0"/>
                </a:moveTo>
                <a:lnTo>
                  <a:pt x="8543440" y="0"/>
                </a:lnTo>
                <a:lnTo>
                  <a:pt x="8543440" y="1872544"/>
                </a:lnTo>
                <a:lnTo>
                  <a:pt x="0" y="1872544"/>
                </a:lnTo>
                <a:lnTo>
                  <a:pt x="0" y="0"/>
                </a:lnTo>
                <a:close/>
              </a:path>
            </a:pathLst>
          </a:custGeom>
          <a:blipFill>
            <a:blip r:embed="rId1">
              <a:extLst>
                <a:ext uri="{96DAC541-7B7A-43D3-8B79-37D633B846F1}">
                  <asvg:svgBlip xmlns:asvg="http://schemas.microsoft.com/office/drawing/2016/SVG/main" r:embed="rId2"/>
                </a:ext>
              </a:extLst>
            </a:blip>
            <a:stretch>
              <a:fillRect b="-38523"/>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rot="0">
            <a:off x="-829956" y="5944026"/>
            <a:ext cx="19947911" cy="7894014"/>
            <a:chOff x="0" y="0"/>
            <a:chExt cx="5039628" cy="1994339"/>
          </a:xfrm>
        </p:grpSpPr>
        <p:sp>
          <p:nvSpPr>
            <p:cNvPr id="3" name="Freeform 3"/>
            <p:cNvSpPr/>
            <p:nvPr/>
          </p:nvSpPr>
          <p:spPr>
            <a:xfrm>
              <a:off x="0" y="0"/>
              <a:ext cx="5039628" cy="1994339"/>
            </a:xfrm>
            <a:custGeom>
              <a:avLst/>
              <a:gdLst/>
              <a:ahLst/>
              <a:cxnLst/>
              <a:rect l="l" t="t" r="r" b="b"/>
              <a:pathLst>
                <a:path w="5039628" h="1994339">
                  <a:moveTo>
                    <a:pt x="0" y="0"/>
                  </a:moveTo>
                  <a:lnTo>
                    <a:pt x="5039628" y="0"/>
                  </a:lnTo>
                  <a:lnTo>
                    <a:pt x="5039628" y="1994339"/>
                  </a:lnTo>
                  <a:lnTo>
                    <a:pt x="0" y="1994339"/>
                  </a:lnTo>
                  <a:close/>
                </a:path>
              </a:pathLst>
            </a:custGeom>
            <a:solidFill>
              <a:srgbClr val="DFD3CA"/>
            </a:solidFill>
            <a:ln cap="sq">
              <a:noFill/>
              <a:prstDash val="solid"/>
              <a:miter/>
            </a:ln>
          </p:spPr>
        </p:sp>
        <p:sp>
          <p:nvSpPr>
            <p:cNvPr id="4" name="TextBox 4"/>
            <p:cNvSpPr txBox="1"/>
            <p:nvPr/>
          </p:nvSpPr>
          <p:spPr>
            <a:xfrm>
              <a:off x="0" y="-57150"/>
              <a:ext cx="5039628" cy="2051489"/>
            </a:xfrm>
            <a:prstGeom prst="rect">
              <a:avLst/>
            </a:prstGeom>
          </p:spPr>
          <p:txBody>
            <a:bodyPr lIns="0" tIns="0" rIns="0" bIns="0" rtlCol="0" anchor="ctr"/>
            <a:lstStyle/>
            <a:p>
              <a:pPr marL="0" lvl="0" indent="0" algn="ctr">
                <a:lnSpc>
                  <a:spcPts val="3805"/>
                </a:lnSpc>
                <a:spcBef>
                  <a:spcPct val="0"/>
                </a:spcBef>
              </a:pPr>
            </a:p>
          </p:txBody>
        </p:sp>
      </p:grpSp>
      <p:grpSp>
        <p:nvGrpSpPr>
          <p:cNvPr id="5" name="Group 5"/>
          <p:cNvGrpSpPr>
            <a:grpSpLocks noChangeAspect="1"/>
          </p:cNvGrpSpPr>
          <p:nvPr/>
        </p:nvGrpSpPr>
        <p:grpSpPr>
          <a:xfrm rot="0">
            <a:off x="10615096" y="2237370"/>
            <a:ext cx="7006894" cy="7020930"/>
            <a:chOff x="0" y="0"/>
            <a:chExt cx="10143490" cy="10163810"/>
          </a:xfrm>
        </p:grpSpPr>
        <p:sp>
          <p:nvSpPr>
            <p:cNvPr id="6" name="Freeform 6"/>
            <p:cNvSpPr/>
            <p:nvPr/>
          </p:nvSpPr>
          <p:spPr>
            <a:xfrm>
              <a:off x="0" y="0"/>
              <a:ext cx="10143351" cy="10163632"/>
            </a:xfrm>
            <a:custGeom>
              <a:avLst/>
              <a:gdLst/>
              <a:ahLst/>
              <a:cxnLst/>
              <a:rect l="l" t="t" r="r" b="b"/>
              <a:pathLst>
                <a:path w="10143351" h="10163632">
                  <a:moveTo>
                    <a:pt x="0" y="0"/>
                  </a:moveTo>
                  <a:lnTo>
                    <a:pt x="10143351" y="0"/>
                  </a:lnTo>
                  <a:lnTo>
                    <a:pt x="10143351" y="10163632"/>
                  </a:lnTo>
                  <a:lnTo>
                    <a:pt x="0" y="10163632"/>
                  </a:lnTo>
                  <a:close/>
                </a:path>
              </a:pathLst>
            </a:custGeom>
            <a:blipFill>
              <a:blip r:embed="rId1"/>
              <a:stretch>
                <a:fillRect t="-25" b="-25"/>
              </a:stretch>
            </a:blipFill>
          </p:spPr>
        </p:sp>
        <p:sp>
          <p:nvSpPr>
            <p:cNvPr id="7" name="Freeform 7"/>
            <p:cNvSpPr/>
            <p:nvPr/>
          </p:nvSpPr>
          <p:spPr>
            <a:xfrm>
              <a:off x="3149600" y="2368550"/>
              <a:ext cx="5156200" cy="6858000"/>
            </a:xfrm>
            <a:custGeom>
              <a:avLst/>
              <a:gdLst/>
              <a:ahLst/>
              <a:cxnLst/>
              <a:rect l="l" t="t" r="r" b="b"/>
              <a:pathLst>
                <a:path w="5156200" h="6858000">
                  <a:moveTo>
                    <a:pt x="0" y="0"/>
                  </a:moveTo>
                  <a:lnTo>
                    <a:pt x="5156200" y="0"/>
                  </a:lnTo>
                  <a:lnTo>
                    <a:pt x="5156200" y="6858000"/>
                  </a:lnTo>
                  <a:lnTo>
                    <a:pt x="0" y="6858000"/>
                  </a:lnTo>
                  <a:close/>
                </a:path>
              </a:pathLst>
            </a:custGeom>
            <a:blipFill>
              <a:blip r:embed="rId2"/>
              <a:stretch>
                <a:fillRect l="-16502" r="-16502"/>
              </a:stretch>
            </a:blipFill>
          </p:spPr>
        </p:sp>
        <p:sp>
          <p:nvSpPr>
            <p:cNvPr id="8" name="Freeform 8"/>
            <p:cNvSpPr/>
            <p:nvPr/>
          </p:nvSpPr>
          <p:spPr>
            <a:xfrm>
              <a:off x="374650" y="673100"/>
              <a:ext cx="6318250" cy="8427288"/>
            </a:xfrm>
            <a:custGeom>
              <a:avLst/>
              <a:gdLst/>
              <a:ahLst/>
              <a:cxnLst/>
              <a:rect l="l" t="t" r="r" b="b"/>
              <a:pathLst>
                <a:path w="6318250" h="8427288">
                  <a:moveTo>
                    <a:pt x="2560460" y="1417091"/>
                  </a:moveTo>
                  <a:lnTo>
                    <a:pt x="2559050" y="8427288"/>
                  </a:lnTo>
                  <a:lnTo>
                    <a:pt x="0" y="8427288"/>
                  </a:lnTo>
                  <a:lnTo>
                    <a:pt x="0" y="0"/>
                  </a:lnTo>
                  <a:lnTo>
                    <a:pt x="6318250" y="0"/>
                  </a:lnTo>
                  <a:lnTo>
                    <a:pt x="6318250" y="1098550"/>
                  </a:lnTo>
                  <a:lnTo>
                    <a:pt x="2878087" y="1099439"/>
                  </a:lnTo>
                  <a:cubicBezTo>
                    <a:pt x="2702674" y="1099490"/>
                    <a:pt x="2560498" y="1241679"/>
                    <a:pt x="2560460" y="1417091"/>
                  </a:cubicBezTo>
                  <a:close/>
                </a:path>
              </a:pathLst>
            </a:custGeom>
            <a:blipFill>
              <a:blip r:embed="rId3"/>
              <a:stretch>
                <a:fillRect t="-6265" b="-6265"/>
              </a:stretch>
            </a:blipFill>
          </p:spPr>
        </p:sp>
      </p:grpSp>
      <p:sp>
        <p:nvSpPr>
          <p:cNvPr id="9" name="Freeform 9"/>
          <p:cNvSpPr/>
          <p:nvPr/>
        </p:nvSpPr>
        <p:spPr>
          <a:xfrm rot="2571718">
            <a:off x="-2175741" y="8229600"/>
            <a:ext cx="3992153" cy="4114800"/>
          </a:xfrm>
          <a:custGeom>
            <a:avLst/>
            <a:gdLst/>
            <a:ahLst/>
            <a:cxnLst/>
            <a:rect l="l" t="t" r="r" b="b"/>
            <a:pathLst>
              <a:path w="3992153" h="4114800">
                <a:moveTo>
                  <a:pt x="0" y="0"/>
                </a:moveTo>
                <a:lnTo>
                  <a:pt x="3992154" y="0"/>
                </a:lnTo>
                <a:lnTo>
                  <a:pt x="399215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8100000">
            <a:off x="15981942" y="-1788025"/>
            <a:ext cx="3992153" cy="4114800"/>
          </a:xfrm>
          <a:custGeom>
            <a:avLst/>
            <a:gdLst/>
            <a:ahLst/>
            <a:cxnLst/>
            <a:rect l="l" t="t" r="r" b="b"/>
            <a:pathLst>
              <a:path w="3992153" h="4114800">
                <a:moveTo>
                  <a:pt x="0" y="0"/>
                </a:moveTo>
                <a:lnTo>
                  <a:pt x="3992153" y="0"/>
                </a:lnTo>
                <a:lnTo>
                  <a:pt x="399215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1799093" y="972307"/>
            <a:ext cx="8270726" cy="2163309"/>
          </a:xfrm>
          <a:prstGeom prst="rect">
            <a:avLst/>
          </a:prstGeom>
        </p:spPr>
        <p:txBody>
          <a:bodyPr lIns="0" tIns="0" rIns="0" bIns="0" rtlCol="0" anchor="t">
            <a:spAutoFit/>
          </a:bodyPr>
          <a:lstStyle/>
          <a:p>
            <a:pPr marL="0" lvl="0" indent="0" algn="l">
              <a:lnSpc>
                <a:spcPts val="8630"/>
              </a:lnSpc>
              <a:spcBef>
                <a:spcPct val="0"/>
              </a:spcBef>
            </a:pPr>
            <a:r>
              <a:rPr lang="en-US" sz="5265">
                <a:solidFill>
                  <a:srgbClr val="000000"/>
                </a:solidFill>
                <a:latin typeface="TAN Pearl"/>
                <a:ea typeface="TAN Pearl"/>
                <a:cs typeface="TAN Pearl"/>
                <a:sym typeface="TAN Pearl"/>
              </a:rPr>
              <a:t>Concepts Used in Implementing</a:t>
            </a:r>
            <a:endParaRPr lang="en-US" sz="5265">
              <a:solidFill>
                <a:srgbClr val="000000"/>
              </a:solidFill>
              <a:latin typeface="TAN Pearl"/>
              <a:ea typeface="TAN Pearl"/>
              <a:cs typeface="TAN Pearl"/>
              <a:sym typeface="TAN Pearl"/>
            </a:endParaRPr>
          </a:p>
        </p:txBody>
      </p:sp>
      <p:sp>
        <p:nvSpPr>
          <p:cNvPr id="12" name="TextBox 12"/>
          <p:cNvSpPr txBox="1"/>
          <p:nvPr/>
        </p:nvSpPr>
        <p:spPr>
          <a:xfrm>
            <a:off x="1799093" y="3856449"/>
            <a:ext cx="8107396" cy="690534"/>
          </a:xfrm>
          <a:prstGeom prst="rect">
            <a:avLst/>
          </a:prstGeom>
        </p:spPr>
        <p:txBody>
          <a:bodyPr lIns="0" tIns="0" rIns="0" bIns="0" rtlCol="0" anchor="t">
            <a:spAutoFit/>
          </a:bodyPr>
          <a:lstStyle/>
          <a:p>
            <a:pPr marL="0" lvl="0" indent="0" algn="l">
              <a:lnSpc>
                <a:spcPts val="2775"/>
              </a:lnSpc>
              <a:spcBef>
                <a:spcPct val="0"/>
              </a:spcBef>
            </a:pPr>
            <a:r>
              <a:rPr lang="en-US" sz="1980">
                <a:solidFill>
                  <a:srgbClr val="010101"/>
                </a:solidFill>
                <a:latin typeface="Lora" panose="00000500000000000000"/>
                <a:ea typeface="Lora" panose="00000500000000000000"/>
                <a:cs typeface="Lora" panose="00000500000000000000"/>
                <a:sym typeface="Lora" panose="00000500000000000000"/>
              </a:rPr>
              <a:t>Conditional statements like if,if else,if elif else are used to check whether the given letter by user exists in the word or not. </a:t>
            </a:r>
            <a:endParaRPr lang="en-US" sz="1980">
              <a:solidFill>
                <a:srgbClr val="010101"/>
              </a:solidFill>
              <a:latin typeface="Lora" panose="00000500000000000000"/>
              <a:ea typeface="Lora" panose="00000500000000000000"/>
              <a:cs typeface="Lora" panose="00000500000000000000"/>
              <a:sym typeface="Lora" panose="00000500000000000000"/>
            </a:endParaRPr>
          </a:p>
        </p:txBody>
      </p:sp>
      <p:sp>
        <p:nvSpPr>
          <p:cNvPr id="13" name="TextBox 13"/>
          <p:cNvSpPr txBox="1"/>
          <p:nvPr/>
        </p:nvSpPr>
        <p:spPr>
          <a:xfrm>
            <a:off x="1799093" y="3326966"/>
            <a:ext cx="4053698" cy="438332"/>
          </a:xfrm>
          <a:prstGeom prst="rect">
            <a:avLst/>
          </a:prstGeom>
        </p:spPr>
        <p:txBody>
          <a:bodyPr lIns="0" tIns="0" rIns="0" bIns="0" rtlCol="0" anchor="t">
            <a:spAutoFit/>
          </a:bodyPr>
          <a:lstStyle/>
          <a:p>
            <a:pPr marL="0" lvl="0" indent="0" algn="l">
              <a:lnSpc>
                <a:spcPts val="3665"/>
              </a:lnSpc>
              <a:spcBef>
                <a:spcPct val="0"/>
              </a:spcBef>
            </a:pPr>
            <a:r>
              <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rPr>
              <a:t>Conditional Statements :</a:t>
            </a:r>
            <a:endPar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endParaRPr>
          </a:p>
        </p:txBody>
      </p:sp>
      <p:sp>
        <p:nvSpPr>
          <p:cNvPr id="14" name="TextBox 14"/>
          <p:cNvSpPr txBox="1"/>
          <p:nvPr/>
        </p:nvSpPr>
        <p:spPr>
          <a:xfrm>
            <a:off x="1880758" y="4737483"/>
            <a:ext cx="4053698" cy="438332"/>
          </a:xfrm>
          <a:prstGeom prst="rect">
            <a:avLst/>
          </a:prstGeom>
        </p:spPr>
        <p:txBody>
          <a:bodyPr lIns="0" tIns="0" rIns="0" bIns="0" rtlCol="0" anchor="t">
            <a:spAutoFit/>
          </a:bodyPr>
          <a:lstStyle/>
          <a:p>
            <a:pPr marL="0" lvl="0" indent="0" algn="l">
              <a:lnSpc>
                <a:spcPts val="3665"/>
              </a:lnSpc>
              <a:spcBef>
                <a:spcPct val="0"/>
              </a:spcBef>
            </a:pPr>
            <a:r>
              <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rPr>
              <a:t>Loops:</a:t>
            </a:r>
            <a:endPar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endParaRPr>
          </a:p>
        </p:txBody>
      </p:sp>
      <p:sp>
        <p:nvSpPr>
          <p:cNvPr id="15" name="TextBox 15"/>
          <p:cNvSpPr txBox="1"/>
          <p:nvPr/>
        </p:nvSpPr>
        <p:spPr>
          <a:xfrm>
            <a:off x="1880758" y="5375840"/>
            <a:ext cx="8107396" cy="690534"/>
          </a:xfrm>
          <a:prstGeom prst="rect">
            <a:avLst/>
          </a:prstGeom>
        </p:spPr>
        <p:txBody>
          <a:bodyPr lIns="0" tIns="0" rIns="0" bIns="0" rtlCol="0" anchor="t">
            <a:spAutoFit/>
          </a:bodyPr>
          <a:lstStyle/>
          <a:p>
            <a:pPr marL="0" lvl="0" indent="0" algn="l">
              <a:lnSpc>
                <a:spcPts val="2775"/>
              </a:lnSpc>
              <a:spcBef>
                <a:spcPct val="0"/>
              </a:spcBef>
            </a:pPr>
            <a:r>
              <a:rPr lang="en-US" sz="1980">
                <a:solidFill>
                  <a:srgbClr val="010101"/>
                </a:solidFill>
                <a:latin typeface="Lora" panose="00000500000000000000"/>
                <a:ea typeface="Lora" panose="00000500000000000000"/>
                <a:cs typeface="Lora" panose="00000500000000000000"/>
                <a:sym typeface="Lora" panose="00000500000000000000"/>
              </a:rPr>
              <a:t>While loop is used to iterate until the given chances are comoketed and gives the final result of the game.</a:t>
            </a:r>
            <a:endParaRPr lang="en-US" sz="1980">
              <a:solidFill>
                <a:srgbClr val="010101"/>
              </a:solidFill>
              <a:latin typeface="Lora" panose="00000500000000000000"/>
              <a:ea typeface="Lora" panose="00000500000000000000"/>
              <a:cs typeface="Lora" panose="00000500000000000000"/>
              <a:sym typeface="Lora" panose="00000500000000000000"/>
            </a:endParaRPr>
          </a:p>
        </p:txBody>
      </p:sp>
      <p:sp>
        <p:nvSpPr>
          <p:cNvPr id="16" name="TextBox 16"/>
          <p:cNvSpPr txBox="1"/>
          <p:nvPr/>
        </p:nvSpPr>
        <p:spPr>
          <a:xfrm>
            <a:off x="1880758" y="6256874"/>
            <a:ext cx="4053698" cy="438332"/>
          </a:xfrm>
          <a:prstGeom prst="rect">
            <a:avLst/>
          </a:prstGeom>
        </p:spPr>
        <p:txBody>
          <a:bodyPr lIns="0" tIns="0" rIns="0" bIns="0" rtlCol="0" anchor="t">
            <a:spAutoFit/>
          </a:bodyPr>
          <a:lstStyle/>
          <a:p>
            <a:pPr marL="0" lvl="0" indent="0" algn="l">
              <a:lnSpc>
                <a:spcPts val="3665"/>
              </a:lnSpc>
              <a:spcBef>
                <a:spcPct val="0"/>
              </a:spcBef>
            </a:pPr>
            <a:r>
              <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rPr>
              <a:t>Functions:</a:t>
            </a:r>
            <a:endPar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endParaRPr>
          </a:p>
        </p:txBody>
      </p:sp>
      <p:sp>
        <p:nvSpPr>
          <p:cNvPr id="17" name="TextBox 17"/>
          <p:cNvSpPr txBox="1"/>
          <p:nvPr/>
        </p:nvSpPr>
        <p:spPr>
          <a:xfrm>
            <a:off x="1880758" y="6895230"/>
            <a:ext cx="8107396" cy="1041915"/>
          </a:xfrm>
          <a:prstGeom prst="rect">
            <a:avLst/>
          </a:prstGeom>
        </p:spPr>
        <p:txBody>
          <a:bodyPr lIns="0" tIns="0" rIns="0" bIns="0" rtlCol="0" anchor="t">
            <a:spAutoFit/>
          </a:bodyPr>
          <a:lstStyle/>
          <a:p>
            <a:pPr marL="0" lvl="0" indent="0" algn="l">
              <a:lnSpc>
                <a:spcPts val="2775"/>
              </a:lnSpc>
              <a:spcBef>
                <a:spcPct val="0"/>
              </a:spcBef>
            </a:pPr>
            <a:r>
              <a:rPr lang="en-US" sz="1980">
                <a:solidFill>
                  <a:srgbClr val="010101"/>
                </a:solidFill>
                <a:latin typeface="Lora" panose="00000500000000000000"/>
                <a:ea typeface="Lora" panose="00000500000000000000"/>
                <a:cs typeface="Lora" panose="00000500000000000000"/>
                <a:sym typeface="Lora" panose="00000500000000000000"/>
              </a:rPr>
              <a:t>Functions are used to make the code easy to understand and increases the reusability of the code.There are 6 functions defined in this code .</a:t>
            </a:r>
            <a:endParaRPr lang="en-US" sz="1980">
              <a:solidFill>
                <a:srgbClr val="010101"/>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rot="0">
            <a:off x="-829956" y="5944026"/>
            <a:ext cx="19947911" cy="7894014"/>
            <a:chOff x="0" y="0"/>
            <a:chExt cx="5039628" cy="1994339"/>
          </a:xfrm>
        </p:grpSpPr>
        <p:sp>
          <p:nvSpPr>
            <p:cNvPr id="3" name="Freeform 3"/>
            <p:cNvSpPr/>
            <p:nvPr/>
          </p:nvSpPr>
          <p:spPr>
            <a:xfrm>
              <a:off x="0" y="0"/>
              <a:ext cx="5039628" cy="1994339"/>
            </a:xfrm>
            <a:custGeom>
              <a:avLst/>
              <a:gdLst/>
              <a:ahLst/>
              <a:cxnLst/>
              <a:rect l="l" t="t" r="r" b="b"/>
              <a:pathLst>
                <a:path w="5039628" h="1994339">
                  <a:moveTo>
                    <a:pt x="0" y="0"/>
                  </a:moveTo>
                  <a:lnTo>
                    <a:pt x="5039628" y="0"/>
                  </a:lnTo>
                  <a:lnTo>
                    <a:pt x="5039628" y="1994339"/>
                  </a:lnTo>
                  <a:lnTo>
                    <a:pt x="0" y="1994339"/>
                  </a:lnTo>
                  <a:close/>
                </a:path>
              </a:pathLst>
            </a:custGeom>
            <a:solidFill>
              <a:srgbClr val="DFD3CA"/>
            </a:solidFill>
            <a:ln cap="sq">
              <a:noFill/>
              <a:prstDash val="solid"/>
              <a:miter/>
            </a:ln>
          </p:spPr>
        </p:sp>
        <p:sp>
          <p:nvSpPr>
            <p:cNvPr id="4" name="TextBox 4"/>
            <p:cNvSpPr txBox="1"/>
            <p:nvPr/>
          </p:nvSpPr>
          <p:spPr>
            <a:xfrm>
              <a:off x="0" y="-57150"/>
              <a:ext cx="5039628" cy="2051489"/>
            </a:xfrm>
            <a:prstGeom prst="rect">
              <a:avLst/>
            </a:prstGeom>
          </p:spPr>
          <p:txBody>
            <a:bodyPr lIns="0" tIns="0" rIns="0" bIns="0" rtlCol="0" anchor="ctr"/>
            <a:lstStyle/>
            <a:p>
              <a:pPr marL="0" lvl="0" indent="0" algn="ctr">
                <a:lnSpc>
                  <a:spcPts val="3805"/>
                </a:lnSpc>
                <a:spcBef>
                  <a:spcPct val="0"/>
                </a:spcBef>
              </a:pPr>
            </a:p>
          </p:txBody>
        </p:sp>
      </p:grpSp>
      <p:grpSp>
        <p:nvGrpSpPr>
          <p:cNvPr id="5" name="Group 5"/>
          <p:cNvGrpSpPr>
            <a:grpSpLocks noChangeAspect="1"/>
          </p:cNvGrpSpPr>
          <p:nvPr/>
        </p:nvGrpSpPr>
        <p:grpSpPr>
          <a:xfrm rot="0">
            <a:off x="10615096" y="2237370"/>
            <a:ext cx="7006894" cy="7020930"/>
            <a:chOff x="0" y="0"/>
            <a:chExt cx="10143490" cy="10163810"/>
          </a:xfrm>
        </p:grpSpPr>
        <p:sp>
          <p:nvSpPr>
            <p:cNvPr id="6" name="Freeform 6"/>
            <p:cNvSpPr/>
            <p:nvPr/>
          </p:nvSpPr>
          <p:spPr>
            <a:xfrm>
              <a:off x="0" y="0"/>
              <a:ext cx="10143351" cy="10163632"/>
            </a:xfrm>
            <a:custGeom>
              <a:avLst/>
              <a:gdLst/>
              <a:ahLst/>
              <a:cxnLst/>
              <a:rect l="l" t="t" r="r" b="b"/>
              <a:pathLst>
                <a:path w="10143351" h="10163632">
                  <a:moveTo>
                    <a:pt x="0" y="0"/>
                  </a:moveTo>
                  <a:lnTo>
                    <a:pt x="10143351" y="0"/>
                  </a:lnTo>
                  <a:lnTo>
                    <a:pt x="10143351" y="10163632"/>
                  </a:lnTo>
                  <a:lnTo>
                    <a:pt x="0" y="10163632"/>
                  </a:lnTo>
                  <a:close/>
                </a:path>
              </a:pathLst>
            </a:custGeom>
            <a:blipFill>
              <a:blip r:embed="rId1"/>
              <a:stretch>
                <a:fillRect t="-25" b="-25"/>
              </a:stretch>
            </a:blipFill>
          </p:spPr>
        </p:sp>
        <p:sp>
          <p:nvSpPr>
            <p:cNvPr id="7" name="Freeform 7"/>
            <p:cNvSpPr/>
            <p:nvPr/>
          </p:nvSpPr>
          <p:spPr>
            <a:xfrm>
              <a:off x="3149600" y="2368550"/>
              <a:ext cx="5156200" cy="6858000"/>
            </a:xfrm>
            <a:custGeom>
              <a:avLst/>
              <a:gdLst/>
              <a:ahLst/>
              <a:cxnLst/>
              <a:rect l="l" t="t" r="r" b="b"/>
              <a:pathLst>
                <a:path w="5156200" h="6858000">
                  <a:moveTo>
                    <a:pt x="0" y="0"/>
                  </a:moveTo>
                  <a:lnTo>
                    <a:pt x="5156200" y="0"/>
                  </a:lnTo>
                  <a:lnTo>
                    <a:pt x="5156200" y="6858000"/>
                  </a:lnTo>
                  <a:lnTo>
                    <a:pt x="0" y="6858000"/>
                  </a:lnTo>
                  <a:close/>
                </a:path>
              </a:pathLst>
            </a:custGeom>
            <a:blipFill>
              <a:blip r:embed="rId2"/>
              <a:stretch>
                <a:fillRect t="-6424" b="-6424"/>
              </a:stretch>
            </a:blipFill>
          </p:spPr>
        </p:sp>
        <p:sp>
          <p:nvSpPr>
            <p:cNvPr id="8" name="Freeform 8"/>
            <p:cNvSpPr/>
            <p:nvPr/>
          </p:nvSpPr>
          <p:spPr>
            <a:xfrm>
              <a:off x="374650" y="673100"/>
              <a:ext cx="6318250" cy="8427288"/>
            </a:xfrm>
            <a:custGeom>
              <a:avLst/>
              <a:gdLst/>
              <a:ahLst/>
              <a:cxnLst/>
              <a:rect l="l" t="t" r="r" b="b"/>
              <a:pathLst>
                <a:path w="6318250" h="8427288">
                  <a:moveTo>
                    <a:pt x="2560460" y="1417091"/>
                  </a:moveTo>
                  <a:lnTo>
                    <a:pt x="2559050" y="8427288"/>
                  </a:lnTo>
                  <a:lnTo>
                    <a:pt x="0" y="8427288"/>
                  </a:lnTo>
                  <a:lnTo>
                    <a:pt x="0" y="0"/>
                  </a:lnTo>
                  <a:lnTo>
                    <a:pt x="6318250" y="0"/>
                  </a:lnTo>
                  <a:lnTo>
                    <a:pt x="6318250" y="1098550"/>
                  </a:lnTo>
                  <a:lnTo>
                    <a:pt x="2878087" y="1099439"/>
                  </a:lnTo>
                  <a:cubicBezTo>
                    <a:pt x="2702674" y="1099490"/>
                    <a:pt x="2560498" y="1241679"/>
                    <a:pt x="2560460" y="1417091"/>
                  </a:cubicBezTo>
                  <a:close/>
                </a:path>
              </a:pathLst>
            </a:custGeom>
            <a:blipFill>
              <a:blip r:embed="rId3"/>
              <a:stretch>
                <a:fillRect t="-6265" b="-6265"/>
              </a:stretch>
            </a:blipFill>
          </p:spPr>
        </p:sp>
      </p:grpSp>
      <p:sp>
        <p:nvSpPr>
          <p:cNvPr id="9" name="Freeform 9"/>
          <p:cNvSpPr/>
          <p:nvPr/>
        </p:nvSpPr>
        <p:spPr>
          <a:xfrm rot="2571718">
            <a:off x="-2175741" y="8229600"/>
            <a:ext cx="3992153" cy="4114800"/>
          </a:xfrm>
          <a:custGeom>
            <a:avLst/>
            <a:gdLst/>
            <a:ahLst/>
            <a:cxnLst/>
            <a:rect l="l" t="t" r="r" b="b"/>
            <a:pathLst>
              <a:path w="3992153" h="4114800">
                <a:moveTo>
                  <a:pt x="0" y="0"/>
                </a:moveTo>
                <a:lnTo>
                  <a:pt x="3992154" y="0"/>
                </a:lnTo>
                <a:lnTo>
                  <a:pt x="3992154"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rot="-8100000">
            <a:off x="15981942" y="-1788025"/>
            <a:ext cx="3992153" cy="4114800"/>
          </a:xfrm>
          <a:custGeom>
            <a:avLst/>
            <a:gdLst/>
            <a:ahLst/>
            <a:cxnLst/>
            <a:rect l="l" t="t" r="r" b="b"/>
            <a:pathLst>
              <a:path w="3992153" h="4114800">
                <a:moveTo>
                  <a:pt x="0" y="0"/>
                </a:moveTo>
                <a:lnTo>
                  <a:pt x="3992153" y="0"/>
                </a:lnTo>
                <a:lnTo>
                  <a:pt x="3992153"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1799093" y="5000345"/>
            <a:ext cx="3972033" cy="878450"/>
          </a:xfrm>
          <a:prstGeom prst="rect">
            <a:avLst/>
          </a:prstGeom>
        </p:spPr>
        <p:txBody>
          <a:bodyPr lIns="0" tIns="0" rIns="0" bIns="0" rtlCol="0" anchor="t">
            <a:spAutoFit/>
          </a:bodyPr>
          <a:lstStyle/>
          <a:p>
            <a:pPr algn="l">
              <a:lnSpc>
                <a:spcPts val="3590"/>
              </a:lnSpc>
            </a:pPr>
            <a:r>
              <a:rPr lang="en-US" sz="256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rPr>
              <a:t>Random module:</a:t>
            </a:r>
            <a:endParaRPr lang="en-US" sz="256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endParaRPr>
          </a:p>
          <a:p>
            <a:pPr marL="0" lvl="0" indent="0" algn="l">
              <a:lnSpc>
                <a:spcPts val="3590"/>
              </a:lnSpc>
              <a:spcBef>
                <a:spcPct val="0"/>
              </a:spcBef>
            </a:pPr>
          </a:p>
        </p:txBody>
      </p:sp>
      <p:sp>
        <p:nvSpPr>
          <p:cNvPr id="12" name="TextBox 12"/>
          <p:cNvSpPr txBox="1"/>
          <p:nvPr/>
        </p:nvSpPr>
        <p:spPr>
          <a:xfrm>
            <a:off x="1799093" y="5709735"/>
            <a:ext cx="8107396" cy="690534"/>
          </a:xfrm>
          <a:prstGeom prst="rect">
            <a:avLst/>
          </a:prstGeom>
        </p:spPr>
        <p:txBody>
          <a:bodyPr lIns="0" tIns="0" rIns="0" bIns="0" rtlCol="0" anchor="t">
            <a:spAutoFit/>
          </a:bodyPr>
          <a:lstStyle/>
          <a:p>
            <a:pPr marL="0" lvl="0" indent="0" algn="l">
              <a:lnSpc>
                <a:spcPts val="2775"/>
              </a:lnSpc>
              <a:spcBef>
                <a:spcPct val="0"/>
              </a:spcBef>
            </a:pPr>
            <a:r>
              <a:rPr lang="en-US" sz="1980">
                <a:solidFill>
                  <a:srgbClr val="010101"/>
                </a:solidFill>
                <a:latin typeface="Lora" panose="00000500000000000000"/>
                <a:ea typeface="Lora" panose="00000500000000000000"/>
                <a:cs typeface="Lora" panose="00000500000000000000"/>
                <a:sym typeface="Lora" panose="00000500000000000000"/>
              </a:rPr>
              <a:t>Random is a module in which it is used to choose a word ramdomly from the text file .</a:t>
            </a:r>
            <a:endParaRPr lang="en-US" sz="1980">
              <a:solidFill>
                <a:srgbClr val="010101"/>
              </a:solidFill>
              <a:latin typeface="Lora" panose="00000500000000000000"/>
              <a:ea typeface="Lora" panose="00000500000000000000"/>
              <a:cs typeface="Lora" panose="00000500000000000000"/>
              <a:sym typeface="Lora" panose="00000500000000000000"/>
            </a:endParaRPr>
          </a:p>
        </p:txBody>
      </p:sp>
      <p:sp>
        <p:nvSpPr>
          <p:cNvPr id="13" name="TextBox 13"/>
          <p:cNvSpPr txBox="1"/>
          <p:nvPr/>
        </p:nvSpPr>
        <p:spPr>
          <a:xfrm>
            <a:off x="1799093" y="3195204"/>
            <a:ext cx="4053698" cy="438332"/>
          </a:xfrm>
          <a:prstGeom prst="rect">
            <a:avLst/>
          </a:prstGeom>
        </p:spPr>
        <p:txBody>
          <a:bodyPr lIns="0" tIns="0" rIns="0" bIns="0" rtlCol="0" anchor="t">
            <a:spAutoFit/>
          </a:bodyPr>
          <a:lstStyle/>
          <a:p>
            <a:pPr marL="0" lvl="0" indent="0" algn="l">
              <a:lnSpc>
                <a:spcPts val="3665"/>
              </a:lnSpc>
              <a:spcBef>
                <a:spcPct val="0"/>
              </a:spcBef>
            </a:pPr>
            <a:r>
              <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rPr>
              <a:t>Words.txt:</a:t>
            </a:r>
            <a:endPar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endParaRPr>
          </a:p>
        </p:txBody>
      </p:sp>
      <p:sp>
        <p:nvSpPr>
          <p:cNvPr id="14" name="TextBox 14"/>
          <p:cNvSpPr txBox="1"/>
          <p:nvPr/>
        </p:nvSpPr>
        <p:spPr>
          <a:xfrm>
            <a:off x="1799093" y="3976435"/>
            <a:ext cx="8107396" cy="690534"/>
          </a:xfrm>
          <a:prstGeom prst="rect">
            <a:avLst/>
          </a:prstGeom>
        </p:spPr>
        <p:txBody>
          <a:bodyPr lIns="0" tIns="0" rIns="0" bIns="0" rtlCol="0" anchor="t">
            <a:spAutoFit/>
          </a:bodyPr>
          <a:lstStyle/>
          <a:p>
            <a:pPr marL="0" lvl="0" indent="0" algn="l">
              <a:lnSpc>
                <a:spcPts val="2775"/>
              </a:lnSpc>
              <a:spcBef>
                <a:spcPct val="0"/>
              </a:spcBef>
            </a:pPr>
            <a:r>
              <a:rPr lang="en-US" sz="1980">
                <a:solidFill>
                  <a:srgbClr val="010101"/>
                </a:solidFill>
                <a:latin typeface="Lora" panose="00000500000000000000"/>
                <a:ea typeface="Lora" panose="00000500000000000000"/>
                <a:cs typeface="Lora" panose="00000500000000000000"/>
                <a:sym typeface="Lora" panose="00000500000000000000"/>
              </a:rPr>
              <a:t>This progam uses the external file words.txt in which the words for the game are defined already.</a:t>
            </a:r>
            <a:endParaRPr lang="en-US" sz="1980">
              <a:solidFill>
                <a:srgbClr val="010101"/>
              </a:solidFill>
              <a:latin typeface="Lora" panose="00000500000000000000"/>
              <a:ea typeface="Lora" panose="00000500000000000000"/>
              <a:cs typeface="Lora" panose="00000500000000000000"/>
              <a:sym typeface="Lora" panose="00000500000000000000"/>
            </a:endParaRPr>
          </a:p>
        </p:txBody>
      </p:sp>
      <p:sp>
        <p:nvSpPr>
          <p:cNvPr id="15" name="TextBox 15"/>
          <p:cNvSpPr txBox="1"/>
          <p:nvPr/>
        </p:nvSpPr>
        <p:spPr>
          <a:xfrm>
            <a:off x="1799093" y="6729009"/>
            <a:ext cx="4053698" cy="895532"/>
          </a:xfrm>
          <a:prstGeom prst="rect">
            <a:avLst/>
          </a:prstGeom>
        </p:spPr>
        <p:txBody>
          <a:bodyPr lIns="0" tIns="0" rIns="0" bIns="0" rtlCol="0" anchor="t">
            <a:spAutoFit/>
          </a:bodyPr>
          <a:lstStyle/>
          <a:p>
            <a:pPr algn="l">
              <a:lnSpc>
                <a:spcPts val="3665"/>
              </a:lnSpc>
            </a:pPr>
            <a:r>
              <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rPr>
              <a:t>String module:</a:t>
            </a:r>
            <a:endParaRPr lang="en-US" sz="2615" b="1" i="1">
              <a:solidFill>
                <a:srgbClr val="010101"/>
              </a:solidFill>
              <a:latin typeface="Lora Bold Italics" panose="00000800000000000000"/>
              <a:ea typeface="Lora Bold Italics" panose="00000800000000000000"/>
              <a:cs typeface="Lora Bold Italics" panose="00000800000000000000"/>
              <a:sym typeface="Lora Bold Italics" panose="00000800000000000000"/>
            </a:endParaRPr>
          </a:p>
          <a:p>
            <a:pPr marL="0" lvl="0" indent="0" algn="l">
              <a:lnSpc>
                <a:spcPts val="3665"/>
              </a:lnSpc>
              <a:spcBef>
                <a:spcPct val="0"/>
              </a:spcBef>
            </a:pPr>
          </a:p>
        </p:txBody>
      </p:sp>
      <p:sp>
        <p:nvSpPr>
          <p:cNvPr id="16" name="TextBox 16"/>
          <p:cNvSpPr txBox="1"/>
          <p:nvPr/>
        </p:nvSpPr>
        <p:spPr>
          <a:xfrm>
            <a:off x="1799093" y="7383037"/>
            <a:ext cx="8107396" cy="690534"/>
          </a:xfrm>
          <a:prstGeom prst="rect">
            <a:avLst/>
          </a:prstGeom>
        </p:spPr>
        <p:txBody>
          <a:bodyPr lIns="0" tIns="0" rIns="0" bIns="0" rtlCol="0" anchor="t">
            <a:spAutoFit/>
          </a:bodyPr>
          <a:lstStyle/>
          <a:p>
            <a:pPr marL="0" lvl="0" indent="0" algn="l">
              <a:lnSpc>
                <a:spcPts val="2775"/>
              </a:lnSpc>
              <a:spcBef>
                <a:spcPct val="0"/>
              </a:spcBef>
            </a:pPr>
            <a:r>
              <a:rPr lang="en-US" sz="1980">
                <a:solidFill>
                  <a:srgbClr val="010101"/>
                </a:solidFill>
                <a:latin typeface="Lora" panose="00000500000000000000"/>
                <a:ea typeface="Lora" panose="00000500000000000000"/>
                <a:cs typeface="Lora" panose="00000500000000000000"/>
                <a:sym typeface="Lora" panose="00000500000000000000"/>
              </a:rPr>
              <a:t>String module is used to do string manupulation or any other operations by usinf the predefined functions in the string module.</a:t>
            </a:r>
            <a:endParaRPr lang="en-US" sz="1980">
              <a:solidFill>
                <a:srgbClr val="010101"/>
              </a:solidFill>
              <a:latin typeface="Lora" panose="00000500000000000000"/>
              <a:ea typeface="Lora" panose="00000500000000000000"/>
              <a:cs typeface="Lora" panose="00000500000000000000"/>
              <a:sym typeface="Lora" panose="0000050000000000000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3240418" y="-2441628"/>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5472712" y="8064712"/>
            <a:ext cx="1786588" cy="1676145"/>
          </a:xfrm>
          <a:custGeom>
            <a:avLst/>
            <a:gdLst/>
            <a:ahLst/>
            <a:cxnLst/>
            <a:rect l="l" t="t" r="r" b="b"/>
            <a:pathLst>
              <a:path w="1786588" h="1676145">
                <a:moveTo>
                  <a:pt x="0" y="0"/>
                </a:moveTo>
                <a:lnTo>
                  <a:pt x="1786588" y="0"/>
                </a:lnTo>
                <a:lnTo>
                  <a:pt x="1786588" y="1676145"/>
                </a:lnTo>
                <a:lnTo>
                  <a:pt x="0" y="16761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3733306" y="6547977"/>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241515" y="1665868"/>
            <a:ext cx="7943972" cy="7020485"/>
          </a:xfrm>
          <a:custGeom>
            <a:avLst/>
            <a:gdLst/>
            <a:ahLst/>
            <a:cxnLst/>
            <a:rect l="l" t="t" r="r" b="b"/>
            <a:pathLst>
              <a:path w="7943972" h="7020485">
                <a:moveTo>
                  <a:pt x="0" y="0"/>
                </a:moveTo>
                <a:lnTo>
                  <a:pt x="7943972" y="0"/>
                </a:lnTo>
                <a:lnTo>
                  <a:pt x="7943972" y="7020486"/>
                </a:lnTo>
                <a:lnTo>
                  <a:pt x="0" y="7020486"/>
                </a:lnTo>
                <a:lnTo>
                  <a:pt x="0" y="0"/>
                </a:lnTo>
                <a:close/>
              </a:path>
            </a:pathLst>
          </a:custGeom>
          <a:blipFill>
            <a:blip r:embed="rId5"/>
            <a:stretch>
              <a:fillRect/>
            </a:stretch>
          </a:blipFill>
        </p:spPr>
      </p:sp>
      <p:sp>
        <p:nvSpPr>
          <p:cNvPr id="6" name="Freeform 6"/>
          <p:cNvSpPr/>
          <p:nvPr/>
        </p:nvSpPr>
        <p:spPr>
          <a:xfrm>
            <a:off x="8257061" y="2821589"/>
            <a:ext cx="9002239" cy="5864765"/>
          </a:xfrm>
          <a:custGeom>
            <a:avLst/>
            <a:gdLst/>
            <a:ahLst/>
            <a:cxnLst/>
            <a:rect l="l" t="t" r="r" b="b"/>
            <a:pathLst>
              <a:path w="9002239" h="5864765">
                <a:moveTo>
                  <a:pt x="0" y="0"/>
                </a:moveTo>
                <a:lnTo>
                  <a:pt x="9002239" y="0"/>
                </a:lnTo>
                <a:lnTo>
                  <a:pt x="9002239" y="5864765"/>
                </a:lnTo>
                <a:lnTo>
                  <a:pt x="0" y="5864765"/>
                </a:lnTo>
                <a:lnTo>
                  <a:pt x="0" y="0"/>
                </a:lnTo>
                <a:close/>
              </a:path>
            </a:pathLst>
          </a:custGeom>
          <a:blipFill>
            <a:blip r:embed="rId6"/>
            <a:stretch>
              <a:fillRect r="-28562"/>
            </a:stretch>
          </a:blipFill>
        </p:spPr>
      </p:sp>
      <p:sp>
        <p:nvSpPr>
          <p:cNvPr id="7" name="TextBox 7"/>
          <p:cNvSpPr txBox="1"/>
          <p:nvPr/>
        </p:nvSpPr>
        <p:spPr>
          <a:xfrm>
            <a:off x="241515" y="-14786"/>
            <a:ext cx="7397235" cy="1295706"/>
          </a:xfrm>
          <a:prstGeom prst="rect">
            <a:avLst/>
          </a:prstGeom>
        </p:spPr>
        <p:txBody>
          <a:bodyPr lIns="0" tIns="0" rIns="0" bIns="0" rtlCol="0" anchor="t">
            <a:spAutoFit/>
          </a:bodyPr>
          <a:lstStyle/>
          <a:p>
            <a:pPr algn="l">
              <a:lnSpc>
                <a:spcPts val="10590"/>
              </a:lnSpc>
            </a:pPr>
            <a:r>
              <a:rPr lang="en-US" sz="6455">
                <a:solidFill>
                  <a:srgbClr val="000000"/>
                </a:solidFill>
                <a:latin typeface="TAN Pearl"/>
                <a:ea typeface="TAN Pearl"/>
                <a:cs typeface="TAN Pearl"/>
                <a:sym typeface="TAN Pearl"/>
              </a:rPr>
              <a:t>Code</a:t>
            </a:r>
            <a:endParaRPr lang="en-US" sz="6455">
              <a:solidFill>
                <a:srgbClr val="000000"/>
              </a:solidFill>
              <a:latin typeface="TAN Pearl"/>
              <a:ea typeface="TAN Pearl"/>
              <a:cs typeface="TAN Pearl"/>
              <a:sym typeface="TAN Pear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3240418" y="-2441628"/>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5472712" y="8064712"/>
            <a:ext cx="1786588" cy="1676145"/>
          </a:xfrm>
          <a:custGeom>
            <a:avLst/>
            <a:gdLst/>
            <a:ahLst/>
            <a:cxnLst/>
            <a:rect l="l" t="t" r="r" b="b"/>
            <a:pathLst>
              <a:path w="1786588" h="1676145">
                <a:moveTo>
                  <a:pt x="0" y="0"/>
                </a:moveTo>
                <a:lnTo>
                  <a:pt x="1786588" y="0"/>
                </a:lnTo>
                <a:lnTo>
                  <a:pt x="1786588" y="1676145"/>
                </a:lnTo>
                <a:lnTo>
                  <a:pt x="0" y="16761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3733306" y="6547977"/>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241143" y="1389241"/>
            <a:ext cx="7870413" cy="7242258"/>
          </a:xfrm>
          <a:custGeom>
            <a:avLst/>
            <a:gdLst/>
            <a:ahLst/>
            <a:cxnLst/>
            <a:rect l="l" t="t" r="r" b="b"/>
            <a:pathLst>
              <a:path w="7870413" h="7242258">
                <a:moveTo>
                  <a:pt x="0" y="0"/>
                </a:moveTo>
                <a:lnTo>
                  <a:pt x="7870413" y="0"/>
                </a:lnTo>
                <a:lnTo>
                  <a:pt x="7870413" y="7242258"/>
                </a:lnTo>
                <a:lnTo>
                  <a:pt x="0" y="7242258"/>
                </a:lnTo>
                <a:lnTo>
                  <a:pt x="0" y="0"/>
                </a:lnTo>
                <a:close/>
              </a:path>
            </a:pathLst>
          </a:custGeom>
          <a:blipFill>
            <a:blip r:embed="rId5"/>
            <a:stretch>
              <a:fillRect/>
            </a:stretch>
          </a:blipFill>
        </p:spPr>
      </p:sp>
      <p:sp>
        <p:nvSpPr>
          <p:cNvPr id="6" name="Freeform 6"/>
          <p:cNvSpPr/>
          <p:nvPr/>
        </p:nvSpPr>
        <p:spPr>
          <a:xfrm>
            <a:off x="8111556" y="1389241"/>
            <a:ext cx="3513963" cy="6093691"/>
          </a:xfrm>
          <a:custGeom>
            <a:avLst/>
            <a:gdLst/>
            <a:ahLst/>
            <a:cxnLst/>
            <a:rect l="l" t="t" r="r" b="b"/>
            <a:pathLst>
              <a:path w="3513963" h="6093691">
                <a:moveTo>
                  <a:pt x="0" y="0"/>
                </a:moveTo>
                <a:lnTo>
                  <a:pt x="3513963" y="0"/>
                </a:lnTo>
                <a:lnTo>
                  <a:pt x="3513963" y="6093691"/>
                </a:lnTo>
                <a:lnTo>
                  <a:pt x="0" y="6093691"/>
                </a:lnTo>
                <a:lnTo>
                  <a:pt x="0" y="0"/>
                </a:lnTo>
                <a:close/>
              </a:path>
            </a:pathLst>
          </a:custGeom>
          <a:blipFill>
            <a:blip r:embed="rId6"/>
            <a:stretch>
              <a:fillRect r="-43460"/>
            </a:stretch>
          </a:blipFill>
        </p:spPr>
      </p:sp>
      <p:sp>
        <p:nvSpPr>
          <p:cNvPr id="7" name="Freeform 7"/>
          <p:cNvSpPr/>
          <p:nvPr/>
        </p:nvSpPr>
        <p:spPr>
          <a:xfrm>
            <a:off x="11685670" y="1389241"/>
            <a:ext cx="3787041" cy="6426494"/>
          </a:xfrm>
          <a:custGeom>
            <a:avLst/>
            <a:gdLst/>
            <a:ahLst/>
            <a:cxnLst/>
            <a:rect l="l" t="t" r="r" b="b"/>
            <a:pathLst>
              <a:path w="3787041" h="6426494">
                <a:moveTo>
                  <a:pt x="0" y="0"/>
                </a:moveTo>
                <a:lnTo>
                  <a:pt x="3787042" y="0"/>
                </a:lnTo>
                <a:lnTo>
                  <a:pt x="3787042" y="6426494"/>
                </a:lnTo>
                <a:lnTo>
                  <a:pt x="0" y="6426494"/>
                </a:lnTo>
                <a:lnTo>
                  <a:pt x="0" y="0"/>
                </a:lnTo>
                <a:close/>
              </a:path>
            </a:pathLst>
          </a:custGeom>
          <a:blipFill>
            <a:blip r:embed="rId7"/>
            <a:stretch>
              <a:fillRect/>
            </a:stretch>
          </a:blipFill>
        </p:spPr>
      </p:sp>
      <p:sp>
        <p:nvSpPr>
          <p:cNvPr id="8" name="Freeform 8"/>
          <p:cNvSpPr/>
          <p:nvPr/>
        </p:nvSpPr>
        <p:spPr>
          <a:xfrm>
            <a:off x="11685670" y="7815735"/>
            <a:ext cx="3948192" cy="877945"/>
          </a:xfrm>
          <a:custGeom>
            <a:avLst/>
            <a:gdLst/>
            <a:ahLst/>
            <a:cxnLst/>
            <a:rect l="l" t="t" r="r" b="b"/>
            <a:pathLst>
              <a:path w="3948192" h="877945">
                <a:moveTo>
                  <a:pt x="0" y="0"/>
                </a:moveTo>
                <a:lnTo>
                  <a:pt x="3948193" y="0"/>
                </a:lnTo>
                <a:lnTo>
                  <a:pt x="3948193" y="877944"/>
                </a:lnTo>
                <a:lnTo>
                  <a:pt x="0" y="877944"/>
                </a:lnTo>
                <a:lnTo>
                  <a:pt x="0" y="0"/>
                </a:lnTo>
                <a:close/>
              </a:path>
            </a:pathLst>
          </a:custGeom>
          <a:blipFill>
            <a:blip r:embed="rId8"/>
            <a:stretch>
              <a:fillRect r="-3583"/>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Freeform 2"/>
          <p:cNvSpPr/>
          <p:nvPr/>
        </p:nvSpPr>
        <p:spPr>
          <a:xfrm>
            <a:off x="13240418" y="-2441628"/>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3" name="Freeform 3"/>
          <p:cNvSpPr/>
          <p:nvPr/>
        </p:nvSpPr>
        <p:spPr>
          <a:xfrm>
            <a:off x="15472712" y="8064712"/>
            <a:ext cx="1786588" cy="1676145"/>
          </a:xfrm>
          <a:custGeom>
            <a:avLst/>
            <a:gdLst/>
            <a:ahLst/>
            <a:cxnLst/>
            <a:rect l="l" t="t" r="r" b="b"/>
            <a:pathLst>
              <a:path w="1786588" h="1676145">
                <a:moveTo>
                  <a:pt x="0" y="0"/>
                </a:moveTo>
                <a:lnTo>
                  <a:pt x="1786588" y="0"/>
                </a:lnTo>
                <a:lnTo>
                  <a:pt x="1786588" y="1676145"/>
                </a:lnTo>
                <a:lnTo>
                  <a:pt x="0" y="16761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3733306" y="6547977"/>
            <a:ext cx="8690625" cy="6352057"/>
          </a:xfrm>
          <a:custGeom>
            <a:avLst/>
            <a:gdLst/>
            <a:ahLst/>
            <a:cxnLst/>
            <a:rect l="l" t="t" r="r" b="b"/>
            <a:pathLst>
              <a:path w="8690625" h="6352057">
                <a:moveTo>
                  <a:pt x="0" y="0"/>
                </a:moveTo>
                <a:lnTo>
                  <a:pt x="8690625" y="0"/>
                </a:lnTo>
                <a:lnTo>
                  <a:pt x="8690625" y="6352057"/>
                </a:lnTo>
                <a:lnTo>
                  <a:pt x="0" y="6352057"/>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 name="Freeform 5"/>
          <p:cNvSpPr/>
          <p:nvPr/>
        </p:nvSpPr>
        <p:spPr>
          <a:xfrm>
            <a:off x="612007" y="782694"/>
            <a:ext cx="8945993" cy="6255469"/>
          </a:xfrm>
          <a:custGeom>
            <a:avLst/>
            <a:gdLst/>
            <a:ahLst/>
            <a:cxnLst/>
            <a:rect l="l" t="t" r="r" b="b"/>
            <a:pathLst>
              <a:path w="8945993" h="6255469">
                <a:moveTo>
                  <a:pt x="0" y="0"/>
                </a:moveTo>
                <a:lnTo>
                  <a:pt x="8945993" y="0"/>
                </a:lnTo>
                <a:lnTo>
                  <a:pt x="8945993" y="6255469"/>
                </a:lnTo>
                <a:lnTo>
                  <a:pt x="0" y="6255469"/>
                </a:lnTo>
                <a:lnTo>
                  <a:pt x="0" y="0"/>
                </a:lnTo>
                <a:close/>
              </a:path>
            </a:pathLst>
          </a:custGeom>
          <a:blipFill>
            <a:blip r:embed="rId5"/>
            <a:stretch>
              <a:fillRect/>
            </a:stretch>
          </a:blipFill>
        </p:spPr>
      </p:sp>
      <p:sp>
        <p:nvSpPr>
          <p:cNvPr id="6" name="Freeform 6"/>
          <p:cNvSpPr/>
          <p:nvPr/>
        </p:nvSpPr>
        <p:spPr>
          <a:xfrm>
            <a:off x="9621373" y="4140100"/>
            <a:ext cx="7964357" cy="2898063"/>
          </a:xfrm>
          <a:custGeom>
            <a:avLst/>
            <a:gdLst/>
            <a:ahLst/>
            <a:cxnLst/>
            <a:rect l="l" t="t" r="r" b="b"/>
            <a:pathLst>
              <a:path w="7964357" h="2898063">
                <a:moveTo>
                  <a:pt x="0" y="0"/>
                </a:moveTo>
                <a:lnTo>
                  <a:pt x="7964357" y="0"/>
                </a:lnTo>
                <a:lnTo>
                  <a:pt x="7964357" y="2898063"/>
                </a:lnTo>
                <a:lnTo>
                  <a:pt x="0" y="2898063"/>
                </a:lnTo>
                <a:lnTo>
                  <a:pt x="0" y="0"/>
                </a:lnTo>
                <a:close/>
              </a:path>
            </a:pathLst>
          </a:custGeom>
          <a:blipFill>
            <a:blip r:embed="rId6"/>
            <a:stretch>
              <a:fillRect r="-5106"/>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AutoShape 2"/>
          <p:cNvSpPr/>
          <p:nvPr/>
        </p:nvSpPr>
        <p:spPr>
          <a:xfrm flipH="1">
            <a:off x="4954093" y="-208997"/>
            <a:ext cx="0" cy="10974228"/>
          </a:xfrm>
          <a:prstGeom prst="line">
            <a:avLst/>
          </a:prstGeom>
          <a:ln w="19050" cap="flat">
            <a:solidFill>
              <a:srgbClr val="100F0D"/>
            </a:solidFill>
            <a:prstDash val="solid"/>
            <a:headEnd type="none" w="sm" len="sm"/>
            <a:tailEnd type="none" w="sm" len="sm"/>
          </a:ln>
        </p:spPr>
      </p:sp>
      <p:grpSp>
        <p:nvGrpSpPr>
          <p:cNvPr id="3" name="Group 3"/>
          <p:cNvGrpSpPr/>
          <p:nvPr/>
        </p:nvGrpSpPr>
        <p:grpSpPr>
          <a:xfrm rot="0">
            <a:off x="0" y="0"/>
            <a:ext cx="4848206" cy="10287000"/>
            <a:chOff x="0" y="0"/>
            <a:chExt cx="1276894" cy="2709333"/>
          </a:xfrm>
        </p:grpSpPr>
        <p:sp>
          <p:nvSpPr>
            <p:cNvPr id="4" name="Freeform 4"/>
            <p:cNvSpPr/>
            <p:nvPr/>
          </p:nvSpPr>
          <p:spPr>
            <a:xfrm>
              <a:off x="0" y="0"/>
              <a:ext cx="1276894" cy="2709333"/>
            </a:xfrm>
            <a:custGeom>
              <a:avLst/>
              <a:gdLst/>
              <a:ahLst/>
              <a:cxnLst/>
              <a:rect l="l" t="t" r="r" b="b"/>
              <a:pathLst>
                <a:path w="1276894" h="2709333">
                  <a:moveTo>
                    <a:pt x="0" y="0"/>
                  </a:moveTo>
                  <a:lnTo>
                    <a:pt x="1276894" y="0"/>
                  </a:lnTo>
                  <a:lnTo>
                    <a:pt x="1276894" y="2709333"/>
                  </a:lnTo>
                  <a:lnTo>
                    <a:pt x="0" y="2709333"/>
                  </a:lnTo>
                  <a:close/>
                </a:path>
              </a:pathLst>
            </a:custGeom>
            <a:solidFill>
              <a:srgbClr val="DFD3CA"/>
            </a:solidFill>
          </p:spPr>
        </p:sp>
        <p:sp>
          <p:nvSpPr>
            <p:cNvPr id="5" name="TextBox 5"/>
            <p:cNvSpPr txBox="1"/>
            <p:nvPr/>
          </p:nvSpPr>
          <p:spPr>
            <a:xfrm>
              <a:off x="0" y="-28575"/>
              <a:ext cx="1276894" cy="2737908"/>
            </a:xfrm>
            <a:prstGeom prst="rect">
              <a:avLst/>
            </a:prstGeom>
          </p:spPr>
          <p:txBody>
            <a:bodyPr lIns="50800" tIns="50800" rIns="50800" bIns="50800" rtlCol="0" anchor="ctr"/>
            <a:lstStyle/>
            <a:p>
              <a:pPr algn="ctr">
                <a:lnSpc>
                  <a:spcPts val="2850"/>
                </a:lnSpc>
              </a:pPr>
            </a:p>
          </p:txBody>
        </p:sp>
      </p:grpSp>
      <p:grpSp>
        <p:nvGrpSpPr>
          <p:cNvPr id="6" name="Group 6"/>
          <p:cNvGrpSpPr/>
          <p:nvPr/>
        </p:nvGrpSpPr>
        <p:grpSpPr>
          <a:xfrm rot="0">
            <a:off x="1656637" y="1771117"/>
            <a:ext cx="17822925" cy="6405099"/>
            <a:chOff x="0" y="0"/>
            <a:chExt cx="4694104" cy="1686940"/>
          </a:xfrm>
        </p:grpSpPr>
        <p:sp>
          <p:nvSpPr>
            <p:cNvPr id="7" name="Freeform 7"/>
            <p:cNvSpPr/>
            <p:nvPr/>
          </p:nvSpPr>
          <p:spPr>
            <a:xfrm>
              <a:off x="0" y="0"/>
              <a:ext cx="4694104" cy="1686940"/>
            </a:xfrm>
            <a:custGeom>
              <a:avLst/>
              <a:gdLst/>
              <a:ahLst/>
              <a:cxnLst/>
              <a:rect l="l" t="t" r="r" b="b"/>
              <a:pathLst>
                <a:path w="4694104" h="1686940">
                  <a:moveTo>
                    <a:pt x="0" y="0"/>
                  </a:moveTo>
                  <a:lnTo>
                    <a:pt x="4694104" y="0"/>
                  </a:lnTo>
                  <a:lnTo>
                    <a:pt x="4694104" y="1686940"/>
                  </a:lnTo>
                  <a:lnTo>
                    <a:pt x="0" y="1686940"/>
                  </a:lnTo>
                  <a:close/>
                </a:path>
              </a:pathLst>
            </a:custGeom>
            <a:solidFill>
              <a:srgbClr val="F2F1EB"/>
            </a:solidFill>
          </p:spPr>
        </p:sp>
        <p:sp>
          <p:nvSpPr>
            <p:cNvPr id="8" name="TextBox 8"/>
            <p:cNvSpPr txBox="1"/>
            <p:nvPr/>
          </p:nvSpPr>
          <p:spPr>
            <a:xfrm>
              <a:off x="0" y="-28575"/>
              <a:ext cx="4694104" cy="1715515"/>
            </a:xfrm>
            <a:prstGeom prst="rect">
              <a:avLst/>
            </a:prstGeom>
          </p:spPr>
          <p:txBody>
            <a:bodyPr lIns="50800" tIns="50800" rIns="50800" bIns="50800" rtlCol="0" anchor="ctr"/>
            <a:lstStyle/>
            <a:p>
              <a:pPr algn="ctr">
                <a:lnSpc>
                  <a:spcPts val="2850"/>
                </a:lnSpc>
              </a:pPr>
            </a:p>
          </p:txBody>
        </p:sp>
      </p:grpSp>
      <p:sp>
        <p:nvSpPr>
          <p:cNvPr id="9" name="Freeform 9"/>
          <p:cNvSpPr/>
          <p:nvPr/>
        </p:nvSpPr>
        <p:spPr>
          <a:xfrm>
            <a:off x="422544" y="1771117"/>
            <a:ext cx="5730578" cy="7779050"/>
          </a:xfrm>
          <a:custGeom>
            <a:avLst/>
            <a:gdLst/>
            <a:ahLst/>
            <a:cxnLst/>
            <a:rect l="l" t="t" r="r" b="b"/>
            <a:pathLst>
              <a:path w="5730578" h="7779050">
                <a:moveTo>
                  <a:pt x="0" y="0"/>
                </a:moveTo>
                <a:lnTo>
                  <a:pt x="5730579" y="0"/>
                </a:lnTo>
                <a:lnTo>
                  <a:pt x="5730579" y="7779050"/>
                </a:lnTo>
                <a:lnTo>
                  <a:pt x="0" y="7779050"/>
                </a:lnTo>
                <a:lnTo>
                  <a:pt x="0" y="0"/>
                </a:lnTo>
                <a:close/>
              </a:path>
            </a:pathLst>
          </a:custGeom>
          <a:blipFill>
            <a:blip r:embed="rId1"/>
            <a:stretch>
              <a:fillRect b="-353"/>
            </a:stretch>
          </a:blipFill>
        </p:spPr>
      </p:sp>
      <p:sp>
        <p:nvSpPr>
          <p:cNvPr id="10" name="Freeform 10"/>
          <p:cNvSpPr/>
          <p:nvPr/>
        </p:nvSpPr>
        <p:spPr>
          <a:xfrm>
            <a:off x="6248373" y="1771117"/>
            <a:ext cx="5169927" cy="7779050"/>
          </a:xfrm>
          <a:custGeom>
            <a:avLst/>
            <a:gdLst/>
            <a:ahLst/>
            <a:cxnLst/>
            <a:rect l="l" t="t" r="r" b="b"/>
            <a:pathLst>
              <a:path w="5169927" h="7779050">
                <a:moveTo>
                  <a:pt x="0" y="0"/>
                </a:moveTo>
                <a:lnTo>
                  <a:pt x="5169927" y="0"/>
                </a:lnTo>
                <a:lnTo>
                  <a:pt x="5169927" y="7779050"/>
                </a:lnTo>
                <a:lnTo>
                  <a:pt x="0" y="7779050"/>
                </a:lnTo>
                <a:lnTo>
                  <a:pt x="0" y="0"/>
                </a:lnTo>
                <a:close/>
              </a:path>
            </a:pathLst>
          </a:custGeom>
          <a:blipFill>
            <a:blip r:embed="rId2"/>
            <a:stretch>
              <a:fillRect/>
            </a:stretch>
          </a:blipFill>
        </p:spPr>
      </p:sp>
      <p:sp>
        <p:nvSpPr>
          <p:cNvPr id="11" name="Freeform 11"/>
          <p:cNvSpPr/>
          <p:nvPr/>
        </p:nvSpPr>
        <p:spPr>
          <a:xfrm>
            <a:off x="11513550" y="1771117"/>
            <a:ext cx="5451460" cy="7779050"/>
          </a:xfrm>
          <a:custGeom>
            <a:avLst/>
            <a:gdLst/>
            <a:ahLst/>
            <a:cxnLst/>
            <a:rect l="l" t="t" r="r" b="b"/>
            <a:pathLst>
              <a:path w="5451460" h="7779050">
                <a:moveTo>
                  <a:pt x="0" y="0"/>
                </a:moveTo>
                <a:lnTo>
                  <a:pt x="5451460" y="0"/>
                </a:lnTo>
                <a:lnTo>
                  <a:pt x="5451460" y="7779050"/>
                </a:lnTo>
                <a:lnTo>
                  <a:pt x="0" y="7779050"/>
                </a:lnTo>
                <a:lnTo>
                  <a:pt x="0" y="0"/>
                </a:lnTo>
                <a:close/>
              </a:path>
            </a:pathLst>
          </a:custGeom>
          <a:blipFill>
            <a:blip r:embed="rId3"/>
            <a:stretch>
              <a:fillRect/>
            </a:stretch>
          </a:blipFill>
        </p:spPr>
      </p:sp>
      <p:sp>
        <p:nvSpPr>
          <p:cNvPr id="12" name="TextBox 12"/>
          <p:cNvSpPr txBox="1"/>
          <p:nvPr/>
        </p:nvSpPr>
        <p:spPr>
          <a:xfrm>
            <a:off x="527973" y="213766"/>
            <a:ext cx="6820288" cy="1306017"/>
          </a:xfrm>
          <a:prstGeom prst="rect">
            <a:avLst/>
          </a:prstGeom>
        </p:spPr>
        <p:txBody>
          <a:bodyPr lIns="0" tIns="0" rIns="0" bIns="0" rtlCol="0" anchor="t">
            <a:spAutoFit/>
          </a:bodyPr>
          <a:lstStyle/>
          <a:p>
            <a:pPr marL="0" lvl="0" indent="0" algn="l">
              <a:lnSpc>
                <a:spcPts val="10590"/>
              </a:lnSpc>
              <a:spcBef>
                <a:spcPct val="0"/>
              </a:spcBef>
            </a:pPr>
            <a:r>
              <a:rPr lang="en-US" sz="6455">
                <a:solidFill>
                  <a:srgbClr val="000000"/>
                </a:solidFill>
                <a:latin typeface="TAN Pearl"/>
                <a:ea typeface="TAN Pearl"/>
                <a:cs typeface="TAN Pearl"/>
                <a:sym typeface="TAN Pearl"/>
              </a:rPr>
              <a:t>OUTCOMES</a:t>
            </a:r>
            <a:endParaRPr lang="en-US" sz="6455">
              <a:solidFill>
                <a:srgbClr val="000000"/>
              </a:solidFill>
              <a:latin typeface="TAN Pearl"/>
              <a:ea typeface="TAN Pearl"/>
              <a:cs typeface="TAN Pearl"/>
              <a:sym typeface="TAN Pear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AutoShape 2"/>
          <p:cNvSpPr/>
          <p:nvPr/>
        </p:nvSpPr>
        <p:spPr>
          <a:xfrm flipH="1">
            <a:off x="4954093" y="-208997"/>
            <a:ext cx="0" cy="10974228"/>
          </a:xfrm>
          <a:prstGeom prst="line">
            <a:avLst/>
          </a:prstGeom>
          <a:ln w="19050" cap="flat">
            <a:solidFill>
              <a:srgbClr val="100F0D"/>
            </a:solidFill>
            <a:prstDash val="solid"/>
            <a:headEnd type="none" w="sm" len="sm"/>
            <a:tailEnd type="none" w="sm" len="sm"/>
          </a:ln>
        </p:spPr>
      </p:sp>
      <p:grpSp>
        <p:nvGrpSpPr>
          <p:cNvPr id="3" name="Group 3"/>
          <p:cNvGrpSpPr/>
          <p:nvPr/>
        </p:nvGrpSpPr>
        <p:grpSpPr>
          <a:xfrm rot="0">
            <a:off x="0" y="0"/>
            <a:ext cx="4848206" cy="10287000"/>
            <a:chOff x="0" y="0"/>
            <a:chExt cx="1276894" cy="2709333"/>
          </a:xfrm>
        </p:grpSpPr>
        <p:sp>
          <p:nvSpPr>
            <p:cNvPr id="4" name="Freeform 4"/>
            <p:cNvSpPr/>
            <p:nvPr/>
          </p:nvSpPr>
          <p:spPr>
            <a:xfrm>
              <a:off x="0" y="0"/>
              <a:ext cx="1276894" cy="2709333"/>
            </a:xfrm>
            <a:custGeom>
              <a:avLst/>
              <a:gdLst/>
              <a:ahLst/>
              <a:cxnLst/>
              <a:rect l="l" t="t" r="r" b="b"/>
              <a:pathLst>
                <a:path w="1276894" h="2709333">
                  <a:moveTo>
                    <a:pt x="0" y="0"/>
                  </a:moveTo>
                  <a:lnTo>
                    <a:pt x="1276894" y="0"/>
                  </a:lnTo>
                  <a:lnTo>
                    <a:pt x="1276894" y="2709333"/>
                  </a:lnTo>
                  <a:lnTo>
                    <a:pt x="0" y="2709333"/>
                  </a:lnTo>
                  <a:close/>
                </a:path>
              </a:pathLst>
            </a:custGeom>
            <a:solidFill>
              <a:srgbClr val="DFD3CA"/>
            </a:solidFill>
          </p:spPr>
        </p:sp>
        <p:sp>
          <p:nvSpPr>
            <p:cNvPr id="5" name="TextBox 5"/>
            <p:cNvSpPr txBox="1"/>
            <p:nvPr/>
          </p:nvSpPr>
          <p:spPr>
            <a:xfrm>
              <a:off x="0" y="-28575"/>
              <a:ext cx="1276894" cy="2737908"/>
            </a:xfrm>
            <a:prstGeom prst="rect">
              <a:avLst/>
            </a:prstGeom>
          </p:spPr>
          <p:txBody>
            <a:bodyPr lIns="50800" tIns="50800" rIns="50800" bIns="50800" rtlCol="0" anchor="ctr"/>
            <a:lstStyle/>
            <a:p>
              <a:pPr algn="ctr">
                <a:lnSpc>
                  <a:spcPts val="2850"/>
                </a:lnSpc>
              </a:pPr>
            </a:p>
          </p:txBody>
        </p:sp>
      </p:grpSp>
      <p:grpSp>
        <p:nvGrpSpPr>
          <p:cNvPr id="6" name="Group 6"/>
          <p:cNvGrpSpPr/>
          <p:nvPr/>
        </p:nvGrpSpPr>
        <p:grpSpPr>
          <a:xfrm rot="0">
            <a:off x="1656637" y="1771117"/>
            <a:ext cx="17822925" cy="6405099"/>
            <a:chOff x="0" y="0"/>
            <a:chExt cx="4694104" cy="1686940"/>
          </a:xfrm>
        </p:grpSpPr>
        <p:sp>
          <p:nvSpPr>
            <p:cNvPr id="7" name="Freeform 7"/>
            <p:cNvSpPr/>
            <p:nvPr/>
          </p:nvSpPr>
          <p:spPr>
            <a:xfrm>
              <a:off x="0" y="0"/>
              <a:ext cx="4694104" cy="1686940"/>
            </a:xfrm>
            <a:custGeom>
              <a:avLst/>
              <a:gdLst/>
              <a:ahLst/>
              <a:cxnLst/>
              <a:rect l="l" t="t" r="r" b="b"/>
              <a:pathLst>
                <a:path w="4694104" h="1686940">
                  <a:moveTo>
                    <a:pt x="0" y="0"/>
                  </a:moveTo>
                  <a:lnTo>
                    <a:pt x="4694104" y="0"/>
                  </a:lnTo>
                  <a:lnTo>
                    <a:pt x="4694104" y="1686940"/>
                  </a:lnTo>
                  <a:lnTo>
                    <a:pt x="0" y="1686940"/>
                  </a:lnTo>
                  <a:close/>
                </a:path>
              </a:pathLst>
            </a:custGeom>
            <a:solidFill>
              <a:srgbClr val="F2F1EB"/>
            </a:solidFill>
          </p:spPr>
        </p:sp>
        <p:sp>
          <p:nvSpPr>
            <p:cNvPr id="8" name="TextBox 8"/>
            <p:cNvSpPr txBox="1"/>
            <p:nvPr/>
          </p:nvSpPr>
          <p:spPr>
            <a:xfrm>
              <a:off x="0" y="-28575"/>
              <a:ext cx="4694104" cy="1715515"/>
            </a:xfrm>
            <a:prstGeom prst="rect">
              <a:avLst/>
            </a:prstGeom>
          </p:spPr>
          <p:txBody>
            <a:bodyPr lIns="50800" tIns="50800" rIns="50800" bIns="50800" rtlCol="0" anchor="ctr"/>
            <a:lstStyle/>
            <a:p>
              <a:pPr algn="ctr">
                <a:lnSpc>
                  <a:spcPts val="2850"/>
                </a:lnSpc>
              </a:pPr>
            </a:p>
          </p:txBody>
        </p:sp>
      </p:grpSp>
      <p:sp>
        <p:nvSpPr>
          <p:cNvPr id="9" name="Freeform 9"/>
          <p:cNvSpPr/>
          <p:nvPr/>
        </p:nvSpPr>
        <p:spPr>
          <a:xfrm>
            <a:off x="2424103" y="2210701"/>
            <a:ext cx="10144936" cy="5525932"/>
          </a:xfrm>
          <a:custGeom>
            <a:avLst/>
            <a:gdLst/>
            <a:ahLst/>
            <a:cxnLst/>
            <a:rect l="l" t="t" r="r" b="b"/>
            <a:pathLst>
              <a:path w="10144936" h="5525932">
                <a:moveTo>
                  <a:pt x="0" y="0"/>
                </a:moveTo>
                <a:lnTo>
                  <a:pt x="10144936" y="0"/>
                </a:lnTo>
                <a:lnTo>
                  <a:pt x="10144936" y="5525932"/>
                </a:lnTo>
                <a:lnTo>
                  <a:pt x="0" y="5525932"/>
                </a:lnTo>
                <a:lnTo>
                  <a:pt x="0" y="0"/>
                </a:lnTo>
                <a:close/>
              </a:path>
            </a:pathLst>
          </a:custGeom>
          <a:blipFill>
            <a:blip r:embed="rId1"/>
            <a:stretch>
              <a:fillRect/>
            </a:stretch>
          </a:blipFill>
        </p:spPr>
      </p:sp>
      <p:sp>
        <p:nvSpPr>
          <p:cNvPr id="10" name="TextBox 10"/>
          <p:cNvSpPr txBox="1"/>
          <p:nvPr/>
        </p:nvSpPr>
        <p:spPr>
          <a:xfrm>
            <a:off x="527973" y="213766"/>
            <a:ext cx="6820288" cy="1306017"/>
          </a:xfrm>
          <a:prstGeom prst="rect">
            <a:avLst/>
          </a:prstGeom>
        </p:spPr>
        <p:txBody>
          <a:bodyPr lIns="0" tIns="0" rIns="0" bIns="0" rtlCol="0" anchor="t">
            <a:spAutoFit/>
          </a:bodyPr>
          <a:lstStyle/>
          <a:p>
            <a:pPr marL="0" lvl="0" indent="0" algn="l">
              <a:lnSpc>
                <a:spcPts val="10590"/>
              </a:lnSpc>
              <a:spcBef>
                <a:spcPct val="0"/>
              </a:spcBef>
            </a:pPr>
            <a:r>
              <a:rPr lang="en-US" sz="6455">
                <a:solidFill>
                  <a:srgbClr val="000000"/>
                </a:solidFill>
                <a:latin typeface="TAN Pearl"/>
                <a:ea typeface="TAN Pearl"/>
                <a:cs typeface="TAN Pearl"/>
                <a:sym typeface="TAN Pearl"/>
              </a:rPr>
              <a:t>OUTCOMES</a:t>
            </a:r>
            <a:endParaRPr lang="en-US" sz="6455">
              <a:solidFill>
                <a:srgbClr val="000000"/>
              </a:solidFill>
              <a:latin typeface="TAN Pearl"/>
              <a:ea typeface="TAN Pearl"/>
              <a:cs typeface="TAN Pearl"/>
              <a:sym typeface="TAN Pear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grpSp>
        <p:nvGrpSpPr>
          <p:cNvPr id="2" name="Group 2"/>
          <p:cNvGrpSpPr/>
          <p:nvPr/>
        </p:nvGrpSpPr>
        <p:grpSpPr>
          <a:xfrm rot="0">
            <a:off x="1028700" y="1402619"/>
            <a:ext cx="7154125" cy="9032594"/>
            <a:chOff x="0" y="0"/>
            <a:chExt cx="660400" cy="833802"/>
          </a:xfrm>
        </p:grpSpPr>
        <p:sp>
          <p:nvSpPr>
            <p:cNvPr id="3" name="Freeform 3"/>
            <p:cNvSpPr/>
            <p:nvPr/>
          </p:nvSpPr>
          <p:spPr>
            <a:xfrm>
              <a:off x="0" y="0"/>
              <a:ext cx="660400" cy="833802"/>
            </a:xfrm>
            <a:custGeom>
              <a:avLst/>
              <a:gdLst/>
              <a:ahLst/>
              <a:cxnLst/>
              <a:rect l="l" t="t" r="r" b="b"/>
              <a:pathLst>
                <a:path w="660400" h="833802">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969"/>
                  </a:cubicBezTo>
                  <a:lnTo>
                    <a:pt x="660400" y="833802"/>
                  </a:lnTo>
                  <a:lnTo>
                    <a:pt x="0" y="833802"/>
                  </a:lnTo>
                  <a:lnTo>
                    <a:pt x="0" y="329343"/>
                  </a:lnTo>
                  <a:cubicBezTo>
                    <a:pt x="1782" y="185660"/>
                    <a:pt x="93019" y="64045"/>
                    <a:pt x="220252" y="19070"/>
                  </a:cubicBezTo>
                  <a:close/>
                </a:path>
              </a:pathLst>
            </a:custGeom>
            <a:solidFill>
              <a:srgbClr val="DFD3CA"/>
            </a:solidFill>
          </p:spPr>
        </p:sp>
        <p:sp>
          <p:nvSpPr>
            <p:cNvPr id="4" name="TextBox 4"/>
            <p:cNvSpPr txBox="1"/>
            <p:nvPr/>
          </p:nvSpPr>
          <p:spPr>
            <a:xfrm>
              <a:off x="0" y="98425"/>
              <a:ext cx="660400" cy="735377"/>
            </a:xfrm>
            <a:prstGeom prst="rect">
              <a:avLst/>
            </a:prstGeom>
          </p:spPr>
          <p:txBody>
            <a:bodyPr lIns="50800" tIns="50800" rIns="50800" bIns="50800" rtlCol="0" anchor="ctr"/>
            <a:lstStyle/>
            <a:p>
              <a:pPr algn="ctr">
                <a:lnSpc>
                  <a:spcPts val="2850"/>
                </a:lnSpc>
              </a:pPr>
            </a:p>
          </p:txBody>
        </p:sp>
      </p:grpSp>
      <p:sp>
        <p:nvSpPr>
          <p:cNvPr id="5" name="Freeform 5"/>
          <p:cNvSpPr/>
          <p:nvPr/>
        </p:nvSpPr>
        <p:spPr>
          <a:xfrm>
            <a:off x="15498611" y="564547"/>
            <a:ext cx="1786588" cy="1676145"/>
          </a:xfrm>
          <a:custGeom>
            <a:avLst/>
            <a:gdLst/>
            <a:ahLst/>
            <a:cxnLst/>
            <a:rect l="l" t="t" r="r" b="b"/>
            <a:pathLst>
              <a:path w="1786588" h="1676145">
                <a:moveTo>
                  <a:pt x="0" y="0"/>
                </a:moveTo>
                <a:lnTo>
                  <a:pt x="1786589" y="0"/>
                </a:lnTo>
                <a:lnTo>
                  <a:pt x="1786589" y="1676145"/>
                </a:lnTo>
                <a:lnTo>
                  <a:pt x="0" y="1676145"/>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6" name="Freeform 6"/>
          <p:cNvSpPr/>
          <p:nvPr/>
        </p:nvSpPr>
        <p:spPr>
          <a:xfrm>
            <a:off x="13212862" y="2473339"/>
            <a:ext cx="8178165" cy="8229600"/>
          </a:xfrm>
          <a:custGeom>
            <a:avLst/>
            <a:gdLst/>
            <a:ahLst/>
            <a:cxnLst/>
            <a:rect l="l" t="t" r="r" b="b"/>
            <a:pathLst>
              <a:path w="8178165" h="8229600">
                <a:moveTo>
                  <a:pt x="0" y="0"/>
                </a:moveTo>
                <a:lnTo>
                  <a:pt x="8178165" y="0"/>
                </a:lnTo>
                <a:lnTo>
                  <a:pt x="8178165" y="8229600"/>
                </a:lnTo>
                <a:lnTo>
                  <a:pt x="0" y="8229600"/>
                </a:lnTo>
                <a:lnTo>
                  <a:pt x="0" y="0"/>
                </a:lnTo>
                <a:close/>
              </a:path>
            </a:pathLst>
          </a:custGeom>
          <a:blipFill>
            <a:blip r:embed="rId3">
              <a:alphaModFix amt="18000"/>
            </a:blip>
            <a:stretch>
              <a:fillRect/>
            </a:stretch>
          </a:blipFill>
        </p:spPr>
      </p:sp>
      <p:sp>
        <p:nvSpPr>
          <p:cNvPr id="7" name="TextBox 7"/>
          <p:cNvSpPr txBox="1"/>
          <p:nvPr/>
        </p:nvSpPr>
        <p:spPr>
          <a:xfrm>
            <a:off x="4195308" y="3730349"/>
            <a:ext cx="11786143" cy="1873621"/>
          </a:xfrm>
          <a:prstGeom prst="rect">
            <a:avLst/>
          </a:prstGeom>
        </p:spPr>
        <p:txBody>
          <a:bodyPr lIns="0" tIns="0" rIns="0" bIns="0" rtlCol="0" anchor="t">
            <a:spAutoFit/>
          </a:bodyPr>
          <a:lstStyle/>
          <a:p>
            <a:pPr marL="0" lvl="0" indent="0" algn="l">
              <a:lnSpc>
                <a:spcPts val="15055"/>
              </a:lnSpc>
              <a:spcBef>
                <a:spcPct val="0"/>
              </a:spcBef>
            </a:pPr>
            <a:r>
              <a:rPr lang="en-US" sz="9180">
                <a:solidFill>
                  <a:srgbClr val="000000"/>
                </a:solidFill>
                <a:latin typeface="TAN Pearl"/>
                <a:ea typeface="TAN Pearl"/>
                <a:cs typeface="TAN Pearl"/>
                <a:sym typeface="TAN Pearl"/>
              </a:rPr>
              <a:t>THANK YOU</a:t>
            </a:r>
            <a:endParaRPr lang="en-US" sz="9180">
              <a:solidFill>
                <a:srgbClr val="000000"/>
              </a:solidFill>
              <a:latin typeface="TAN Pearl"/>
              <a:ea typeface="TAN Pearl"/>
              <a:cs typeface="TAN Pearl"/>
              <a:sym typeface="TAN Pear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3201</Words>
  <Application>WPS Presentation</Application>
  <PresentationFormat>On-screen Show (4:3)</PresentationFormat>
  <Paragraphs>88</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Dream Avenue</vt:lpstr>
      <vt:lpstr>Lora</vt:lpstr>
      <vt:lpstr>Arial</vt:lpstr>
      <vt:lpstr>Lora Bold Italics</vt:lpstr>
      <vt:lpstr>TAN Pearl</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Hangman</dc:title>
  <dc:creator/>
  <cp:lastModifiedBy>DELL</cp:lastModifiedBy>
  <cp:revision>2</cp:revision>
  <dcterms:created xsi:type="dcterms:W3CDTF">2006-08-16T00:00:00Z</dcterms:created>
  <dcterms:modified xsi:type="dcterms:W3CDTF">2024-09-24T14:11:38Z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1A540696486949C4A033E0E95301A822_12</vt:lpwstr>
  </property>
  <property fmtid="{D5CDD505-2E9C-101B-9397-08002B2CF9AE}" pid="3" name="KSOProductBuildVer">
    <vt:lpwstr>1033-12.2.0.13472</vt:lpwstr>
  </property>
</Properties>
</file>